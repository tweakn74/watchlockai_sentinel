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4.png"/><Relationship Id="rId11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48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57.png"/><Relationship Id="rId13" Type="http://schemas.openxmlformats.org/officeDocument/2006/relationships/image" Target="../media/image70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57.png"/><Relationship Id="rId10" Type="http://schemas.openxmlformats.org/officeDocument/2006/relationships/image" Target="../media/image48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24e0f7e169372a07d8893e9b3727f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g_74d64c4361d4d13e7beeee66978025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4943475"/>
            <a:ext cx="952500" cy="28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943100"/>
            <a:ext cx="11430000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WatchLockAI: Enterprise Cybersecurity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191000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Complete Implementation &amp; Deployment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2893" y="5543550"/>
            <a:ext cx="19669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Arial"/>
              </a:rPr>
              <a:t>Author: MiniMax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0806" y="55435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Arial"/>
              </a:rPr>
              <a:t>Date: January 2025</a:t>
            </a:r>
          </a:p>
        </p:txBody>
      </p:sp>
      <p:pic>
        <p:nvPicPr>
          <p:cNvPr id="9" name="Picture 8" descr="bg_11f1f1d624118312971232f7e000a6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10" name="Picture 9" descr="bg_f9ca7f051849f69a9ab820034a3169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8100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9CA3AF"/>
                </a:solidFill>
                <a:latin typeface="Arial"/>
              </a:rPr>
              <a:t>Welcome, Alex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865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142875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Executive Summary: WatchLockAI</a:t>
            </a:r>
          </a:p>
        </p:txBody>
      </p:sp>
      <p:pic>
        <p:nvPicPr>
          <p:cNvPr id="6" name="Picture 5" descr="bg_ddff8f4b585c6849291e99b18f51e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04975"/>
            <a:ext cx="5410200" cy="2466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1943100"/>
            <a:ext cx="493395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76200">
            <a:noAutofit/>
          </a:bodyPr>
          <a:lstStyle/>
          <a:p>
            <a:pPr algn="l"/>
            <a:r>
              <a:rPr sz="1650">
                <a:solidFill>
                  <a:srgbClr val="60A5FA"/>
                </a:solidFill>
                <a:latin typeface="Arial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428875"/>
            <a:ext cx="4933950" cy="97512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D1D5DB"/>
                </a:solidFill>
                <a:latin typeface="Arial"/>
              </a:rPr>
              <a:t>WatchLockAI is a comprehensive, next-generation enterprise cybersecurity platform engineered specifically for the Windows 11 ecosystem. It provides robust protection, real-time monitoring, and intelligent threat detection to secure corporate digital assets.</a:t>
            </a:r>
          </a:p>
        </p:txBody>
      </p:sp>
      <p:pic>
        <p:nvPicPr>
          <p:cNvPr id="9" name="Picture 8" descr="bg_ddff8f4b585c6849291e99b18f51e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704975"/>
            <a:ext cx="5410200" cy="2466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8425" y="1943100"/>
            <a:ext cx="493395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76200">
            <a:noAutofit/>
          </a:bodyPr>
          <a:lstStyle/>
          <a:p>
            <a:pPr algn="l"/>
            <a:r>
              <a:rPr sz="1650">
                <a:solidFill>
                  <a:srgbClr val="60A5FA"/>
                </a:solidFill>
                <a:latin typeface="Arial"/>
              </a:rPr>
              <a:t>Key Deliverables</a:t>
            </a:r>
          </a:p>
        </p:txBody>
      </p:sp>
      <p:pic>
        <p:nvPicPr>
          <p:cNvPr id="11" name="Picture 10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428875"/>
            <a:ext cx="209550" cy="209550"/>
          </a:xfrm>
          <a:prstGeom prst="rect">
            <a:avLst/>
          </a:prstGeom>
        </p:spPr>
      </p:pic>
      <p:pic>
        <p:nvPicPr>
          <p:cNvPr id="12" name="Picture 11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752725"/>
            <a:ext cx="209550" cy="209550"/>
          </a:xfrm>
          <a:prstGeom prst="rect">
            <a:avLst/>
          </a:prstGeom>
        </p:spPr>
      </p:pic>
      <p:pic>
        <p:nvPicPr>
          <p:cNvPr id="13" name="Picture 12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076575"/>
            <a:ext cx="209550" cy="209550"/>
          </a:xfrm>
          <a:prstGeom prst="rect">
            <a:avLst/>
          </a:prstGeom>
        </p:spPr>
      </p:pic>
      <p:pic>
        <p:nvPicPr>
          <p:cNvPr id="14" name="Picture 13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400425"/>
            <a:ext cx="209550" cy="209550"/>
          </a:xfrm>
          <a:prstGeom prst="rect">
            <a:avLst/>
          </a:prstGeom>
        </p:spPr>
      </p:pic>
      <p:pic>
        <p:nvPicPr>
          <p:cNvPr id="15" name="Picture 14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724275"/>
            <a:ext cx="209550" cy="209550"/>
          </a:xfrm>
          <a:prstGeom prst="rect">
            <a:avLst/>
          </a:prstGeom>
        </p:spPr>
      </p:pic>
      <p:pic>
        <p:nvPicPr>
          <p:cNvPr id="16" name="Picture 15" descr="bg_215d06eb82206d8ddd9974b45e7aca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0550"/>
            <a:ext cx="5410200" cy="2466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37171" y="5147369"/>
            <a:ext cx="2278856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76200">
            <a:noAutofit/>
          </a:bodyPr>
          <a:lstStyle/>
          <a:p>
            <a:pPr algn="ctr"/>
            <a:r>
              <a:rPr sz="1650">
                <a:solidFill>
                  <a:srgbClr val="4ADE80"/>
                </a:solidFill>
                <a:latin typeface="Arial"/>
              </a:rPr>
              <a:t>Implementation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0834" y="5633144"/>
            <a:ext cx="1291381" cy="243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 b="1">
                <a:solidFill>
                  <a:srgbClr val="D1D5DB"/>
                </a:solidFill>
                <a:latin typeface="Arial"/>
              </a:rPr>
              <a:t>100%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0834" y="5876925"/>
            <a:ext cx="1291381" cy="243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>
                <a:solidFill>
                  <a:srgbClr val="D1D5DB"/>
                </a:solidFill>
                <a:latin typeface="Arial"/>
              </a:rPr>
              <a:t>Production Ready</a:t>
            </a:r>
          </a:p>
        </p:txBody>
      </p:sp>
      <p:pic>
        <p:nvPicPr>
          <p:cNvPr id="20" name="Picture 19" descr="bg_ddff8f4b585c6849291e99b18f51e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4400550"/>
            <a:ext cx="5410200" cy="2466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8425" y="4638675"/>
            <a:ext cx="493395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76200">
            <a:noAutofit/>
          </a:bodyPr>
          <a:lstStyle/>
          <a:p>
            <a:pPr algn="l"/>
            <a:r>
              <a:rPr sz="1650">
                <a:solidFill>
                  <a:srgbClr val="60A5FA"/>
                </a:solidFill>
                <a:latin typeface="Arial"/>
              </a:rPr>
              <a:t>Technology Stack</a:t>
            </a:r>
          </a:p>
        </p:txBody>
      </p:sp>
      <p:pic>
        <p:nvPicPr>
          <p:cNvPr id="22" name="Picture 21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124450"/>
            <a:ext cx="209550" cy="209550"/>
          </a:xfrm>
          <a:prstGeom prst="rect">
            <a:avLst/>
          </a:prstGeom>
        </p:spPr>
      </p:pic>
      <p:pic>
        <p:nvPicPr>
          <p:cNvPr id="23" name="Picture 22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448300"/>
            <a:ext cx="209550" cy="209550"/>
          </a:xfrm>
          <a:prstGeom prst="rect">
            <a:avLst/>
          </a:prstGeom>
        </p:spPr>
      </p:pic>
      <p:pic>
        <p:nvPicPr>
          <p:cNvPr id="24" name="Picture 23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772150"/>
            <a:ext cx="209550" cy="209550"/>
          </a:xfrm>
          <a:prstGeom prst="rect">
            <a:avLst/>
          </a:prstGeom>
        </p:spPr>
      </p:pic>
      <p:pic>
        <p:nvPicPr>
          <p:cNvPr id="25" name="Picture 24" descr="04474651e019fe25b7be145c6c98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6096000"/>
            <a:ext cx="209550" cy="209550"/>
          </a:xfrm>
          <a:prstGeom prst="rect">
            <a:avLst/>
          </a:prstGeom>
        </p:spPr>
      </p:pic>
      <p:pic>
        <p:nvPicPr>
          <p:cNvPr id="26" name="Picture 25" descr="bg_11f1f1d624118312971232f7e000a6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27" name="Picture 26" descr="bg_f9ca7f051849f69a9ab820034a3169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76250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3600" b="1">
                <a:solidFill>
                  <a:srgbClr val="0D2A4C"/>
                </a:solidFill>
                <a:latin typeface="Arial"/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952750" y="3152775"/>
            <a:ext cx="19050" cy="857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20200" y="3152775"/>
            <a:ext cx="19050" cy="857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6475" y="4829175"/>
            <a:ext cx="19050" cy="11239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g_5c8bf212c1a73376c494d06ae3c6a2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4010025"/>
            <a:ext cx="152400" cy="114300"/>
          </a:xfrm>
          <a:prstGeom prst="rect">
            <a:avLst/>
          </a:prstGeom>
        </p:spPr>
      </p:pic>
      <p:pic>
        <p:nvPicPr>
          <p:cNvPr id="9" name="Picture 8" descr="bg_5c8bf212c1a73376c494d06ae3c6a2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0" y="4010025"/>
            <a:ext cx="152400" cy="114300"/>
          </a:xfrm>
          <a:prstGeom prst="rect">
            <a:avLst/>
          </a:prstGeom>
        </p:spPr>
      </p:pic>
      <p:pic>
        <p:nvPicPr>
          <p:cNvPr id="10" name="Picture 9" descr="bg_8986a3d62df41e4f8dfd8cc1b84f07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5953125"/>
            <a:ext cx="152400" cy="114300"/>
          </a:xfrm>
          <a:prstGeom prst="rect">
            <a:avLst/>
          </a:prstGeom>
        </p:spPr>
      </p:pic>
      <p:pic>
        <p:nvPicPr>
          <p:cNvPr id="11" name="Picture 10" descr="bg_a544a0caf4c146bbe66e0d443494dd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714875"/>
            <a:ext cx="152400" cy="114300"/>
          </a:xfrm>
          <a:prstGeom prst="rect">
            <a:avLst/>
          </a:prstGeom>
        </p:spPr>
      </p:pic>
      <p:pic>
        <p:nvPicPr>
          <p:cNvPr id="12" name="Picture 11" descr="bg_7d5fbf6215d1c822e82fe05ae38722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2257425"/>
            <a:ext cx="3352800" cy="800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71650" y="2438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Arial"/>
              </a:rPr>
              <a:t>Web Management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650" y="27241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React + TypeScript</a:t>
            </a:r>
          </a:p>
        </p:txBody>
      </p:sp>
      <p:pic>
        <p:nvPicPr>
          <p:cNvPr id="15" name="Picture 14" descr="bg_7d5fbf6215d1c822e82fe05ae38722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257425"/>
            <a:ext cx="3352800" cy="800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850" y="2438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Arial"/>
              </a:rPr>
              <a:t>Windows 11 Endpoint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850" y="27241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C# .NET 8</a:t>
            </a:r>
          </a:p>
        </p:txBody>
      </p:sp>
      <p:pic>
        <p:nvPicPr>
          <p:cNvPr id="18" name="Picture 17" descr="bg_23f7a6314b523a239eb047995026c3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57675"/>
            <a:ext cx="11068050" cy="590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424362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350">
                <a:solidFill>
                  <a:srgbClr val="166534"/>
                </a:solidFill>
                <a:latin typeface="Arial"/>
              </a:rPr>
              <a:t>Real-time Communication Layer</a:t>
            </a:r>
          </a:p>
        </p:txBody>
      </p:sp>
      <p:pic>
        <p:nvPicPr>
          <p:cNvPr id="20" name="Picture 19" descr="bg_da5d12674477d6f80a4d69d72e58a6a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5010150"/>
            <a:ext cx="4114800" cy="800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86250" y="5191125"/>
            <a:ext cx="3619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Arial"/>
              </a:rPr>
              <a:t>Supabase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5476875"/>
            <a:ext cx="3619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PostgreSQL + Edge Functions</a:t>
            </a:r>
          </a:p>
        </p:txBody>
      </p:sp>
      <p:pic>
        <p:nvPicPr>
          <p:cNvPr id="23" name="Picture 22" descr="bg_df308cbf41ebccb97bc222f7ea603f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1677" y="6267450"/>
            <a:ext cx="2149822" cy="400050"/>
          </a:xfrm>
          <a:prstGeom prst="rect">
            <a:avLst/>
          </a:prstGeom>
        </p:spPr>
      </p:pic>
      <p:pic>
        <p:nvPicPr>
          <p:cNvPr id="24" name="Picture 23" descr="bg_f9ca7f051849f69a9ab820034a3169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977" y="6362700"/>
            <a:ext cx="2476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89827" y="6400800"/>
            <a:ext cx="1349722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80d28c892d075faa3e88711aa04a7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bg_6e01ec26814d8a4e793a08505d4bd2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16099"/>
            <a:ext cx="5048250" cy="4286250"/>
          </a:xfrm>
          <a:prstGeom prst="rect">
            <a:avLst/>
          </a:prstGeom>
        </p:spPr>
      </p:pic>
      <p:pic>
        <p:nvPicPr>
          <p:cNvPr id="4" name="Picture 3" descr="img_eb8cdeaace56dbac39c6c3a629f7f2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606599"/>
            <a:ext cx="4667250" cy="3905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1188243"/>
            <a:ext cx="2737842" cy="638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4A90E2"/>
                </a:solidFill>
                <a:latin typeface="Arial"/>
              </a:rP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687288"/>
            <a:ext cx="5048250" cy="109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Key Features &amp;</a:t>
            </a:r>
          </a:p>
        </p:txBody>
      </p:sp>
      <p:pic>
        <p:nvPicPr>
          <p:cNvPr id="7" name="Picture 6" descr="bg_71a6d0d83d1d8a9c651a0c4a87cd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165449"/>
            <a:ext cx="5048250" cy="800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3275" y="2317849"/>
            <a:ext cx="292923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Arial"/>
              </a:rPr>
              <a:t>AI-Powered Threat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3275" y="2613124"/>
            <a:ext cx="292923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B0C4DE"/>
                </a:solidFill>
                <a:latin typeface="Arial"/>
              </a:rPr>
              <a:t>MITRE ATT&amp;CK mapping, behavioral analysis</a:t>
            </a:r>
          </a:p>
        </p:txBody>
      </p:sp>
      <p:pic>
        <p:nvPicPr>
          <p:cNvPr id="10" name="Picture 9" descr="bg_71a6d0d83d1d8a9c651a0c4a87cd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108424"/>
            <a:ext cx="5048250" cy="800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3275" y="3260824"/>
            <a:ext cx="278085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Arial"/>
              </a:rPr>
              <a:t>Real-time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3275" y="3556099"/>
            <a:ext cx="2780853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B0C4DE"/>
                </a:solidFill>
                <a:latin typeface="Arial"/>
              </a:rPr>
              <a:t>Live threat feeds, agent health monitoring</a:t>
            </a:r>
          </a:p>
        </p:txBody>
      </p:sp>
      <p:pic>
        <p:nvPicPr>
          <p:cNvPr id="13" name="Picture 12" descr="bg_71a6d0d83d1d8a9c651a0c4a87cd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051399"/>
            <a:ext cx="5048250" cy="800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53275" y="4203799"/>
            <a:ext cx="385435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Arial"/>
              </a:rPr>
              <a:t>Digital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3275" y="4499074"/>
            <a:ext cx="38543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B0C4DE"/>
                </a:solidFill>
                <a:latin typeface="Arial"/>
              </a:rPr>
              <a:t>Evidence collection, chain of custody, automated analysis</a:t>
            </a:r>
          </a:p>
        </p:txBody>
      </p:sp>
      <p:pic>
        <p:nvPicPr>
          <p:cNvPr id="16" name="Picture 15" descr="bg_71a6d0d83d1d8a9c651a0c4a87cd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994374"/>
            <a:ext cx="5048250" cy="800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53275" y="5146774"/>
            <a:ext cx="2461468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Arial"/>
              </a:rPr>
              <a:t>Compliance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275" y="5442049"/>
            <a:ext cx="2461468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B0C4DE"/>
                </a:solidFill>
                <a:latin typeface="Arial"/>
              </a:rPr>
              <a:t>NIST CSF, SOC 2 Type II, ISO 27001:2013</a:t>
            </a:r>
          </a:p>
        </p:txBody>
      </p:sp>
      <p:pic>
        <p:nvPicPr>
          <p:cNvPr id="19" name="Picture 18" descr="bg_71a6d0d83d1d8a9c651a0c4a87cd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5937349"/>
            <a:ext cx="5048250" cy="800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53275" y="6089749"/>
            <a:ext cx="2419201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Arial"/>
              </a:rPr>
              <a:t>Enterprise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3275" y="6385024"/>
            <a:ext cx="2419201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B0C4DE"/>
                </a:solidFill>
                <a:latin typeface="Arial"/>
              </a:rPr>
              <a:t>SIEM, EDR, SOAR platform connectors</a:t>
            </a:r>
          </a:p>
        </p:txBody>
      </p:sp>
      <p:pic>
        <p:nvPicPr>
          <p:cNvPr id="22" name="Picture 21" descr="bg_11f1f1d624118312971232f7e000a6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23" name="Picture 22" descr="bg_f9ca7f051849f69a9ab820034a3169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1bfab9a8a671c9a21d53745156d4a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g_da9532512e6e21eea4aca71334a792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05375"/>
            <a:ext cx="12192000" cy="1952625"/>
          </a:xfrm>
          <a:prstGeom prst="rect">
            <a:avLst/>
          </a:prstGeom>
        </p:spPr>
      </p:pic>
      <p:pic>
        <p:nvPicPr>
          <p:cNvPr id="5" name="Picture 4" descr="bg_a241cfb624e47403a61850eeea11cd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524500"/>
            <a:ext cx="952500" cy="95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290" y="5881687"/>
            <a:ext cx="784770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650">
                <a:solidFill>
                  <a:srgbClr val="333333"/>
                </a:solidFill>
                <a:latin typeface="Arial"/>
              </a:rPr>
              <a:t>&lt;150MB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200650"/>
            <a:ext cx="1030188" cy="180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Arial"/>
              </a:rPr>
              <a:t>Memory Usage</a:t>
            </a:r>
          </a:p>
        </p:txBody>
      </p:sp>
      <p:pic>
        <p:nvPicPr>
          <p:cNvPr id="8" name="Picture 7" descr="bg_941b891785775642083f824b32a180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2688" y="5524500"/>
            <a:ext cx="952500" cy="952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67842" y="5881687"/>
            <a:ext cx="382041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650">
                <a:solidFill>
                  <a:srgbClr val="333333"/>
                </a:solidFill>
                <a:latin typeface="Arial"/>
              </a:rPr>
              <a:t>&lt;5%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2688" y="5200650"/>
            <a:ext cx="952500" cy="180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Arial"/>
              </a:rPr>
              <a:t>CPU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2685" y="5829300"/>
            <a:ext cx="2277814" cy="180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Tested &amp; Compatible</a:t>
            </a:r>
          </a:p>
        </p:txBody>
      </p:sp>
      <p:pic>
        <p:nvPicPr>
          <p:cNvPr id="12" name="Picture 11" descr="bg_b97067ea4cfdcebb48900647ae16d6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685" y="6153150"/>
            <a:ext cx="662731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85560" y="6229350"/>
            <a:ext cx="376981" cy="171450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76200" bIns="76200">
            <a:noAutofit/>
          </a:bodyPr>
          <a:lstStyle/>
          <a:p>
            <a:pPr algn="r"/>
            <a:r>
              <a:rPr sz="1050">
                <a:solidFill>
                  <a:srgbClr val="0078D4"/>
                </a:solidFill>
                <a:latin typeface="Arial"/>
              </a:rPr>
              <a:t>Home</a:t>
            </a:r>
          </a:p>
        </p:txBody>
      </p:sp>
      <p:pic>
        <p:nvPicPr>
          <p:cNvPr id="14" name="Picture 13" descr="bg_720e540cbb569b41ecae1edaae3d02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0667" y="6153150"/>
            <a:ext cx="511075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43542" y="6229350"/>
            <a:ext cx="225325" cy="171450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76200" bIns="76200">
            <a:noAutofit/>
          </a:bodyPr>
          <a:lstStyle/>
          <a:p>
            <a:pPr algn="r"/>
            <a:r>
              <a:rPr sz="1050">
                <a:solidFill>
                  <a:srgbClr val="0078D4"/>
                </a:solidFill>
                <a:latin typeface="Arial"/>
              </a:rPr>
              <a:t>Pro</a:t>
            </a:r>
          </a:p>
        </p:txBody>
      </p:sp>
      <p:pic>
        <p:nvPicPr>
          <p:cNvPr id="16" name="Picture 15" descr="bg_42a7da8f16c092488e9ec75b1dba07b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6992" y="6153150"/>
            <a:ext cx="913507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49867" y="6229350"/>
            <a:ext cx="627757" cy="171450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76200" bIns="76200">
            <a:noAutofit/>
          </a:bodyPr>
          <a:lstStyle/>
          <a:p>
            <a:pPr algn="r"/>
            <a:r>
              <a:rPr sz="1050">
                <a:solidFill>
                  <a:srgbClr val="0078D4"/>
                </a:solidFill>
                <a:latin typeface="Arial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381000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600">
                <a:solidFill>
                  <a:srgbClr val="333333"/>
                </a:solidFill>
                <a:latin typeface="Arial"/>
              </a:rPr>
              <a:t>Windows 11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119312"/>
            <a:ext cx="2939057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95250">
            <a:noAutofit/>
          </a:bodyPr>
          <a:lstStyle/>
          <a:p>
            <a:pPr algn="l"/>
            <a:r>
              <a:rPr sz="1800">
                <a:solidFill>
                  <a:srgbClr val="0078D4"/>
                </a:solidFill>
                <a:latin typeface="Arial"/>
              </a:rPr>
              <a:t>Native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407" y="2771775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2786062"/>
            <a:ext cx="2939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Windows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407" y="2771775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3157537"/>
            <a:ext cx="2939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System Tray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407" y="2771775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3529012"/>
            <a:ext cx="2939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Event Logs</a:t>
            </a:r>
          </a:p>
        </p:txBody>
      </p:sp>
      <p:pic>
        <p:nvPicPr>
          <p:cNvPr id="26" name="Picture 25" descr="img_0a806640e4010f2da00e809783307d2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1557" y="1860351"/>
            <a:ext cx="4408735" cy="22990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1293" y="2119312"/>
            <a:ext cx="2939206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95250">
            <a:noAutofit/>
          </a:bodyPr>
          <a:lstStyle/>
          <a:p>
            <a:pPr algn="l"/>
            <a:r>
              <a:rPr sz="1800">
                <a:solidFill>
                  <a:srgbClr val="0078D4"/>
                </a:solidFill>
                <a:latin typeface="Arial"/>
              </a:rPr>
              <a:t>Security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2943" y="2789336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1293" y="2786062"/>
            <a:ext cx="293920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TPM 2.0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2943" y="2789336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1293" y="3157537"/>
            <a:ext cx="293920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Secure Boot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2943" y="2789336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107C10"/>
                </a:solidFill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1293" y="3529012"/>
            <a:ext cx="293920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666666"/>
                </a:solidFill>
                <a:latin typeface="Arial"/>
              </a:rPr>
              <a:t>Windows Defender</a:t>
            </a:r>
          </a:p>
        </p:txBody>
      </p:sp>
      <p:pic>
        <p:nvPicPr>
          <p:cNvPr id="34" name="Picture 33" descr="bg_df308cbf41ebccb97bc222f7ea603fb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1677" y="6267450"/>
            <a:ext cx="2149822" cy="400050"/>
          </a:xfrm>
          <a:prstGeom prst="rect">
            <a:avLst/>
          </a:prstGeom>
        </p:spPr>
      </p:pic>
      <p:pic>
        <p:nvPicPr>
          <p:cNvPr id="35" name="Picture 34" descr="bg_f9ca7f051849f69a9ab820034a31691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5977" y="6362700"/>
            <a:ext cx="24765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89827" y="6400800"/>
            <a:ext cx="1349722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277ae9b3a4b9d13d1d697d47948b82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g_3abecaced46a3c55189971392d6a26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76250"/>
            <a:ext cx="10858500" cy="74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476250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Installation &amp; Deployment</a:t>
            </a:r>
          </a:p>
        </p:txBody>
      </p:sp>
      <p:pic>
        <p:nvPicPr>
          <p:cNvPr id="6" name="Picture 5" descr="bg_9e81937de16390e87799b9eb0be333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600200"/>
            <a:ext cx="3095625" cy="1857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971675"/>
            <a:ext cx="30911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 b="1">
                <a:solidFill>
                  <a:srgbClr val="00BF70"/>
                </a:solidFill>
                <a:latin typeface="Arial"/>
              </a:rP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850"/>
            <a:ext cx="26003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BF70"/>
                </a:solidFill>
                <a:latin typeface="Arial"/>
              </a:rPr>
              <a:t>BULLETPROOF-FINAL Installer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24125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500" b="1">
                <a:solidFill>
                  <a:srgbClr val="28A745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9342" y="2547937"/>
            <a:ext cx="1226343" cy="180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200">
                <a:solidFill>
                  <a:srgbClr val="C0C0C0"/>
                </a:solidFill>
                <a:latin typeface="Arial"/>
              </a:rPr>
              <a:t>Zero syntax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7025"/>
            <a:ext cx="15969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500" b="1">
                <a:solidFill>
                  <a:srgbClr val="28A745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9342" y="2890837"/>
            <a:ext cx="1735187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200">
                <a:solidFill>
                  <a:srgbClr val="C0C0C0"/>
                </a:solidFill>
                <a:latin typeface="Arial"/>
              </a:rPr>
              <a:t>Validated with TIO testing</a:t>
            </a:r>
          </a:p>
        </p:txBody>
      </p:sp>
      <p:pic>
        <p:nvPicPr>
          <p:cNvPr id="13" name="Picture 12" descr="bg_6653d444485507a00d1e4c358c145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743325"/>
            <a:ext cx="3095625" cy="2085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4114800"/>
            <a:ext cx="30911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 b="1">
                <a:solidFill>
                  <a:srgbClr val="00BF70"/>
                </a:solidFill>
                <a:latin typeface="Arial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90975"/>
            <a:ext cx="26003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BF70"/>
                </a:solidFill>
                <a:latin typeface="Arial"/>
              </a:rPr>
              <a:t>Enterprise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46672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none" lIns="238125" rIns="0" tIns="0" bIns="0">
            <a:no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ourier New"/>
              </a:rPr>
              <a:t>Group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49720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none" lIns="238125" rIns="0" tIns="0" bIns="0">
            <a:no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ourier New"/>
              </a:rPr>
              <a:t>SCCM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527685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none" lIns="238125" rIns="0" tIns="0" bIns="0">
            <a:noAutofit/>
          </a:bodyPr>
          <a:lstStyle/>
          <a:p>
            <a:pPr algn="l"/>
            <a:r>
              <a:rPr sz="1200">
                <a:solidFill>
                  <a:srgbClr val="C0C0C0"/>
                </a:solidFill>
                <a:latin typeface="Courier New"/>
              </a:rPr>
              <a:t>Silent Installation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2027932"/>
            <a:ext cx="3238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Arial"/>
              </a:rPr>
              <a:t>Automated Installation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2547044"/>
            <a:ext cx="2320379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Python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2785169"/>
            <a:ext cx="232037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>
                <a:solidFill>
                  <a:srgbClr val="A0A0A0"/>
                </a:solidFill>
                <a:latin typeface="Courier New"/>
              </a:rPr>
              <a:t>System Scan &amp; Path Validation</a:t>
            </a:r>
          </a:p>
        </p:txBody>
      </p:sp>
      <p:pic>
        <p:nvPicPr>
          <p:cNvPr id="22" name="Picture 21" descr="bg_2f4a7a92639a0fafb84576925742f4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2532757"/>
            <a:ext cx="438150" cy="438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76750" y="2532757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 b="1">
                <a:solidFill>
                  <a:srgbClr val="101820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3223319"/>
            <a:ext cx="2008137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Dependency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5400" y="3461444"/>
            <a:ext cx="2008137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>
                <a:solidFill>
                  <a:srgbClr val="A0A0A0"/>
                </a:solidFill>
                <a:latin typeface="Courier New"/>
              </a:rPr>
              <a:t>Pip Resolve &amp; Install</a:t>
            </a:r>
          </a:p>
        </p:txBody>
      </p:sp>
      <p:pic>
        <p:nvPicPr>
          <p:cNvPr id="26" name="Picture 25" descr="bg_2f4a7a92639a0fafb84576925742f4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3209032"/>
            <a:ext cx="438150" cy="4381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76750" y="3209032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 b="1">
                <a:solidFill>
                  <a:srgbClr val="101820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5400" y="3899594"/>
            <a:ext cx="1840259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Service Registration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0" y="4137719"/>
            <a:ext cx="184025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>
                <a:solidFill>
                  <a:srgbClr val="A0A0A0"/>
                </a:solidFill>
                <a:latin typeface="Courier New"/>
              </a:rPr>
              <a:t>Systemd/Windows Service</a:t>
            </a:r>
          </a:p>
        </p:txBody>
      </p:sp>
      <p:pic>
        <p:nvPicPr>
          <p:cNvPr id="30" name="Picture 29" descr="bg_2f4a7a92639a0fafb84576925742f4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3885307"/>
            <a:ext cx="438150" cy="4381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76750" y="3885307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 b="1">
                <a:solidFill>
                  <a:srgbClr val="101820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575869"/>
            <a:ext cx="1647973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Installation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5400" y="4813994"/>
            <a:ext cx="1647973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>
                <a:solidFill>
                  <a:srgbClr val="A0A0A0"/>
                </a:solidFill>
                <a:latin typeface="Courier New"/>
              </a:rPr>
              <a:t>Ready for Operation</a:t>
            </a:r>
          </a:p>
        </p:txBody>
      </p:sp>
      <p:pic>
        <p:nvPicPr>
          <p:cNvPr id="34" name="Picture 33" descr="bg_0e258c9131c2c69185800b544a3965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50" y="4561582"/>
            <a:ext cx="438150" cy="4381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476750" y="4561582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 b="1">
                <a:solidFill>
                  <a:srgbClr val="101820"/>
                </a:solidFill>
                <a:latin typeface="Arial"/>
              </a:rPr>
              <a:t>✓</a:t>
            </a:r>
          </a:p>
        </p:txBody>
      </p:sp>
      <p:pic>
        <p:nvPicPr>
          <p:cNvPr id="36" name="Picture 35" descr="bg_d0fa1d00e133357558ad74fc70d218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625" y="1600200"/>
            <a:ext cx="3095625" cy="4781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77275" y="1971675"/>
            <a:ext cx="30911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 b="1">
                <a:solidFill>
                  <a:srgbClr val="00BF70"/>
                </a:solidFill>
                <a:latin typeface="Arial"/>
              </a:rPr>
              <a:t>⏱️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275" y="1847850"/>
            <a:ext cx="2600325" cy="533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BF70"/>
                </a:solidFill>
                <a:latin typeface="Arial"/>
              </a:rPr>
              <a:t>Performance Metrics</a:t>
            </a:r>
          </a:p>
        </p:txBody>
      </p:sp>
      <p:pic>
        <p:nvPicPr>
          <p:cNvPr id="39" name="Picture 38" descr="bg_faf459cc1b6e5bbdaaa16da0e62510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275" y="2524125"/>
            <a:ext cx="1170979" cy="11811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77300" y="2724150"/>
            <a:ext cx="770929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2700" b="1">
                <a:solidFill>
                  <a:srgbClr val="00BF70"/>
                </a:solidFill>
                <a:latin typeface="Courier New"/>
              </a:rPr>
              <a:t>&lt;5m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7300" y="3200400"/>
            <a:ext cx="770929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C0C0C0"/>
                </a:solidFill>
                <a:latin typeface="Arial"/>
              </a:rPr>
              <a:t>Typical Install</a:t>
            </a:r>
          </a:p>
        </p:txBody>
      </p:sp>
      <p:pic>
        <p:nvPicPr>
          <p:cNvPr id="42" name="Picture 41" descr="bg_3576efbd2b5aa639dc6b322e579db64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8754" y="2524125"/>
            <a:ext cx="1238845" cy="11811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38779" y="2724150"/>
            <a:ext cx="838795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2700" b="1">
                <a:solidFill>
                  <a:srgbClr val="00BF70"/>
                </a:solidFill>
                <a:latin typeface="Courier New"/>
              </a:rPr>
              <a:t>&lt;15m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8779" y="3200400"/>
            <a:ext cx="838795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C0C0C0"/>
                </a:solidFill>
                <a:latin typeface="Arial"/>
              </a:rPr>
              <a:t>With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7275" y="3990975"/>
            <a:ext cx="2600325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3600" b="1">
                <a:solidFill>
                  <a:srgbClr val="28A745"/>
                </a:solidFill>
                <a:latin typeface="Courier New"/>
              </a:rPr>
              <a:t>99.9%+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7275" y="4562475"/>
            <a:ext cx="26003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200">
                <a:solidFill>
                  <a:srgbClr val="E0E0E0"/>
                </a:solidFill>
                <a:latin typeface="Arial"/>
              </a:rPr>
              <a:t>Deployment Success Rate</a:t>
            </a:r>
          </a:p>
        </p:txBody>
      </p:sp>
      <p:pic>
        <p:nvPicPr>
          <p:cNvPr id="47" name="Picture 46" descr="bg_1d1e67f3ce25008b164149a112d6950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pic>
        <p:nvPicPr>
          <p:cNvPr id="48" name="Picture 47" descr="bg_e0558f0117ecacf6b9862db75cce2e1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4328" y="6267450"/>
            <a:ext cx="2137171" cy="400050"/>
          </a:xfrm>
          <a:prstGeom prst="rect">
            <a:avLst/>
          </a:prstGeom>
        </p:spPr>
      </p:pic>
      <p:pic>
        <p:nvPicPr>
          <p:cNvPr id="49" name="Picture 48" descr="bg_f9ca7f051849f69a9ab820034a31691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8628" y="6362700"/>
            <a:ext cx="247650" cy="209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302478" y="6400800"/>
            <a:ext cx="1337071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1ad4a0d54b951e4c33792c576f367f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g_9284286efc9d63e2c11950a1a2832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9875"/>
            <a:ext cx="4972050" cy="1400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00990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00BFFF"/>
                </a:solidFill>
                <a:latin typeface="Arial"/>
              </a:rPr>
              <a:t>Demo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4099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BDC3C7"/>
                </a:solidFill>
                <a:latin typeface="Courier New"/>
              </a:rPr>
              <a:t>URL: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40995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>
                <a:solidFill>
                  <a:srgbClr val="ECF0F1"/>
                </a:solidFill>
                <a:latin typeface="Courier New"/>
              </a:rPr>
              <a:t>https://rxnsjijey8.space.minimax.io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609975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BDC3C7"/>
                </a:solidFill>
                <a:latin typeface="Courier New"/>
              </a:rPr>
              <a:t>Email: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609975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>
                <a:solidFill>
                  <a:srgbClr val="ECF0F1"/>
                </a:solidFill>
                <a:latin typeface="Courier New"/>
              </a:rPr>
              <a:t>demo@demo.com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8100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BDC3C7"/>
                </a:solidFill>
                <a:latin typeface="Courier New"/>
              </a:rPr>
              <a:t>Pass: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8100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050">
                <a:solidFill>
                  <a:srgbClr val="ECF0F1"/>
                </a:solidFill>
                <a:latin typeface="Courier New"/>
              </a:rPr>
              <a:t>demo123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19125"/>
            <a:ext cx="497205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900" b="1">
                <a:solidFill>
                  <a:srgbClr val="39FF14"/>
                </a:solidFill>
                <a:latin typeface="Arial"/>
              </a:rPr>
              <a:t>Web Management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295525"/>
            <a:ext cx="4972050" cy="228600"/>
          </a:xfrm>
          <a:prstGeom prst="rect">
            <a:avLst/>
          </a:prstGeom>
          <a:noFill/>
          <a:ln>
            <a:noFill/>
          </a:ln>
        </p:spPr>
        <p:txBody>
          <a:bodyPr wrap="none" lIns="142875" rIns="0" tIns="0" bIns="0">
            <a:noAutofit/>
          </a:bodyPr>
          <a:lstStyle/>
          <a:p>
            <a:pPr algn="l"/>
            <a:r>
              <a:rPr sz="1500">
                <a:solidFill>
                  <a:srgbClr val="BDC3C7"/>
                </a:solidFill>
                <a:latin typeface="Arial"/>
              </a:rPr>
              <a:t>Production Deployment</a:t>
            </a:r>
          </a:p>
        </p:txBody>
      </p:sp>
      <p:pic>
        <p:nvPicPr>
          <p:cNvPr id="14" name="Picture 13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95800"/>
            <a:ext cx="2414587" cy="485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463867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squar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Real-time dashboards</a:t>
            </a:r>
          </a:p>
        </p:txBody>
      </p:sp>
      <p:pic>
        <p:nvPicPr>
          <p:cNvPr id="17" name="Picture 16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62" y="4495800"/>
            <a:ext cx="2414587" cy="485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1837" y="463867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Threat management</a:t>
            </a:r>
          </a:p>
        </p:txBody>
      </p:sp>
      <p:pic>
        <p:nvPicPr>
          <p:cNvPr id="20" name="Picture 19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24450"/>
            <a:ext cx="2414587" cy="4857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526732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Agent deployment</a:t>
            </a:r>
          </a:p>
        </p:txBody>
      </p:sp>
      <p:pic>
        <p:nvPicPr>
          <p:cNvPr id="23" name="Picture 22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62" y="5124450"/>
            <a:ext cx="2414587" cy="4857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1837" y="526732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squar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Modern React interface</a:t>
            </a:r>
          </a:p>
        </p:txBody>
      </p:sp>
      <p:pic>
        <p:nvPicPr>
          <p:cNvPr id="26" name="Picture 25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53100"/>
            <a:ext cx="2414587" cy="4857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589597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Responsive design</a:t>
            </a:r>
          </a:p>
        </p:txBody>
      </p:sp>
      <p:pic>
        <p:nvPicPr>
          <p:cNvPr id="29" name="Picture 28" descr="bg_7b072fc7d2598442bd1f487996d417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62" y="5753100"/>
            <a:ext cx="2414587" cy="485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84856" y="4638675"/>
            <a:ext cx="143768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9FF14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1837" y="5895975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wrap="none" lIns="142875" rIns="142875" tIns="142875" bIns="142875">
            <a:noAutofit/>
          </a:bodyPr>
          <a:lstStyle/>
          <a:p>
            <a:pPr algn="l"/>
            <a:r>
              <a:rPr sz="1125">
                <a:solidFill>
                  <a:srgbClr val="ECF0F1"/>
                </a:solidFill>
                <a:latin typeface="Arial"/>
              </a:rPr>
              <a:t>Dark/light themes</a:t>
            </a:r>
          </a:p>
        </p:txBody>
      </p:sp>
      <p:pic>
        <p:nvPicPr>
          <p:cNvPr id="32" name="Picture 31" descr="bg_8140895b422cbb1113b08f4d5307f9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1168598"/>
            <a:ext cx="5600700" cy="452065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029325" y="1178123"/>
            <a:ext cx="5581650" cy="5334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g_0c4fb71861a67ed95eebda0cedabdb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5" y="1292423"/>
            <a:ext cx="4762500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77050" y="1378148"/>
            <a:ext cx="142726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900">
                <a:solidFill>
                  <a:srgbClr val="27C93F"/>
                </a:solidFill>
                <a:latin typeface="Arial"/>
              </a:rP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976" y="1368623"/>
            <a:ext cx="207198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E0E0E0"/>
                </a:solidFill>
                <a:latin typeface="Arial"/>
              </a:rPr>
              <a:t>https://rxnsjijey8.space.minimax.io</a:t>
            </a:r>
          </a:p>
        </p:txBody>
      </p:sp>
      <p:pic>
        <p:nvPicPr>
          <p:cNvPr id="37" name="Picture 36" descr="img_4667a561ad6cfc6f276e9117a3b837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25" y="1711523"/>
            <a:ext cx="5581650" cy="3968204"/>
          </a:xfrm>
          <a:prstGeom prst="rect">
            <a:avLst/>
          </a:prstGeom>
        </p:spPr>
      </p:pic>
      <p:pic>
        <p:nvPicPr>
          <p:cNvPr id="38" name="Picture 37" descr="bg_df308cbf41ebccb97bc222f7ea603f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1677" y="6267450"/>
            <a:ext cx="2149822" cy="400050"/>
          </a:xfrm>
          <a:prstGeom prst="rect">
            <a:avLst/>
          </a:prstGeom>
        </p:spPr>
      </p:pic>
      <p:pic>
        <p:nvPicPr>
          <p:cNvPr id="39" name="Picture 38" descr="bg_f9ca7f051849f69a9ab820034a3169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977" y="6362700"/>
            <a:ext cx="2476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89827" y="6400800"/>
            <a:ext cx="1349722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c0cf73817cd9c50f286169c9271dc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8580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9700" y="571500"/>
            <a:ext cx="559236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Security &amp; Compliance</a:t>
            </a:r>
          </a:p>
        </p:txBody>
      </p:sp>
      <p:pic>
        <p:nvPicPr>
          <p:cNvPr id="5" name="Picture 4" descr="f7f320357043407bcca098e470b060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05025"/>
            <a:ext cx="381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3500" y="2057400"/>
            <a:ext cx="454908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Arial"/>
              </a:rPr>
              <a:t>MITRE ATT&amp;CK®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419350"/>
            <a:ext cx="4549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>
                <a:solidFill>
                  <a:srgbClr val="A8B2D1"/>
                </a:solidFill>
                <a:latin typeface="Arial"/>
              </a:rPr>
              <a:t>Proactively defend against real-world threats with 147+ techniques mapped directly to the ATT&amp;CK framework, enabling advanced kill chain analysis and threat hunting.</a:t>
            </a:r>
          </a:p>
        </p:txBody>
      </p:sp>
      <p:pic>
        <p:nvPicPr>
          <p:cNvPr id="8" name="Picture 7" descr="f7f320357043407bcca098e470b060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90975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500" y="3943350"/>
            <a:ext cx="454908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Arial"/>
              </a:rPr>
              <a:t>Audit Logging &amp;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305300"/>
            <a:ext cx="4549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>
                <a:solidFill>
                  <a:srgbClr val="A8B2D1"/>
                </a:solidFill>
                <a:latin typeface="Arial"/>
              </a:rPr>
              <a:t>Maintain immutable audit trails with a verifiable chain of custody. All critical events are logged and securely stored with a guaranteed 7-year retention period.</a:t>
            </a:r>
          </a:p>
        </p:txBody>
      </p:sp>
      <p:pic>
        <p:nvPicPr>
          <p:cNvPr id="11" name="Picture 10" descr="f7f320357043407bcca098e470b060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76925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5829300"/>
            <a:ext cx="454908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Arial"/>
              </a:rPr>
              <a:t>Continuous Security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6191250"/>
            <a:ext cx="4549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>
                <a:solidFill>
                  <a:srgbClr val="A8B2D1"/>
                </a:solidFill>
                <a:latin typeface="Arial"/>
              </a:rPr>
              <a:t>Our security posture is rigorously validated through regular penetration testing, continuous vulnerability scanning, and automated compliance validation checks.</a:t>
            </a:r>
          </a:p>
        </p:txBody>
      </p:sp>
      <p:pic>
        <p:nvPicPr>
          <p:cNvPr id="14" name="Picture 13" descr="bg_f82110cc082d82c8110172adf17222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419" y="1638300"/>
            <a:ext cx="5120580" cy="3848100"/>
          </a:xfrm>
          <a:prstGeom prst="rect">
            <a:avLst/>
          </a:prstGeom>
        </p:spPr>
      </p:pic>
      <p:pic>
        <p:nvPicPr>
          <p:cNvPr id="15" name="Picture 14" descr="bg_bc361c72c1e8b543c13c1907c2b94d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419" y="5486400"/>
            <a:ext cx="5120580" cy="1809750"/>
          </a:xfrm>
          <a:prstGeom prst="rect">
            <a:avLst/>
          </a:prstGeom>
        </p:spPr>
      </p:pic>
      <p:pic>
        <p:nvPicPr>
          <p:cNvPr id="16" name="Picture 15" descr="3a85549d85f46b1ac2a4b7dc146655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919" y="5681662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42819" y="5676900"/>
            <a:ext cx="2525017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</a:rPr>
              <a:t>Unified Compliance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2819" y="6029325"/>
            <a:ext cx="439668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rgbClr val="A8B2D1"/>
                </a:solidFill>
                <a:latin typeface="Arial"/>
              </a:rPr>
              <a:t>Streamline adherence to multiple standards with automated assessments, intelligent gap analysis, and one-click reporting for audits.</a:t>
            </a:r>
          </a:p>
        </p:txBody>
      </p:sp>
      <p:pic>
        <p:nvPicPr>
          <p:cNvPr id="19" name="Picture 18" descr="bg_4e9c141f25043209f730767fbf2813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819" y="6781800"/>
            <a:ext cx="5905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5219" y="68389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152400" rIns="152400" tIns="57150" bIns="57150">
            <a:noAutofit/>
          </a:bodyPr>
          <a:lstStyle/>
          <a:p>
            <a:pPr algn="l"/>
            <a:r>
              <a:rPr sz="975">
                <a:solidFill>
                  <a:srgbClr val="A8B2D1"/>
                </a:solidFill>
                <a:latin typeface="Arial"/>
              </a:rPr>
              <a:t>NIST</a:t>
            </a:r>
          </a:p>
        </p:txBody>
      </p:sp>
      <p:pic>
        <p:nvPicPr>
          <p:cNvPr id="21" name="Picture 20" descr="bg_c6212a8db91db569d2eaf3b3721d63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669" y="6781800"/>
            <a:ext cx="695176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00069" y="6838950"/>
            <a:ext cx="390376" cy="209550"/>
          </a:xfrm>
          <a:prstGeom prst="rect">
            <a:avLst/>
          </a:prstGeom>
          <a:noFill/>
          <a:ln>
            <a:noFill/>
          </a:ln>
        </p:spPr>
        <p:txBody>
          <a:bodyPr wrap="none" lIns="152400" rIns="152400" tIns="57150" bIns="57150">
            <a:noAutofit/>
          </a:bodyPr>
          <a:lstStyle/>
          <a:p>
            <a:pPr algn="l"/>
            <a:r>
              <a:rPr sz="975">
                <a:solidFill>
                  <a:srgbClr val="A8B2D1"/>
                </a:solidFill>
                <a:latin typeface="Arial"/>
              </a:rPr>
              <a:t>SOC 2</a:t>
            </a:r>
          </a:p>
        </p:txBody>
      </p:sp>
      <p:pic>
        <p:nvPicPr>
          <p:cNvPr id="23" name="Picture 22" descr="bg_a931336975d2452ba027e2b01068b7e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145" y="6781800"/>
            <a:ext cx="903535" cy="3238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09545" y="6838950"/>
            <a:ext cx="598735" cy="209550"/>
          </a:xfrm>
          <a:prstGeom prst="rect">
            <a:avLst/>
          </a:prstGeom>
          <a:noFill/>
          <a:ln>
            <a:noFill/>
          </a:ln>
        </p:spPr>
        <p:txBody>
          <a:bodyPr wrap="none" lIns="152400" rIns="152400" tIns="57150" bIns="57150">
            <a:noAutofit/>
          </a:bodyPr>
          <a:lstStyle/>
          <a:p>
            <a:pPr algn="l"/>
            <a:r>
              <a:rPr sz="975">
                <a:solidFill>
                  <a:srgbClr val="A8B2D1"/>
                </a:solidFill>
                <a:latin typeface="Arial"/>
              </a:rPr>
              <a:t>ISO 27001</a:t>
            </a:r>
          </a:p>
        </p:txBody>
      </p:sp>
      <p:pic>
        <p:nvPicPr>
          <p:cNvPr id="25" name="Picture 24" descr="bg_11f1f1d624118312971232f7e000a6f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26" name="Picture 25" descr="bg_f9ca7f051849f69a9ab820034a31691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4fcd535940e2094a82544852b4187b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g_3464c212bdf38146b835ff49e4f26a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1000"/>
            <a:ext cx="110490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Backend Services &amp; APIs</a:t>
            </a:r>
          </a:p>
        </p:txBody>
      </p:sp>
      <p:pic>
        <p:nvPicPr>
          <p:cNvPr id="6" name="Picture 5" descr="bg_3f235df64ed4c06e4936761edb447f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1700"/>
            <a:ext cx="12192000" cy="876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2067" y="6205537"/>
            <a:ext cx="1445716" cy="2762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Multi-Region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2067" y="6481762"/>
            <a:ext cx="1445716" cy="1619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94A3B8"/>
                </a:solidFill>
                <a:latin typeface="Arial"/>
              </a:rP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8920" y="6205537"/>
            <a:ext cx="1471463" cy="2762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Auto-Scaling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8920" y="6481762"/>
            <a:ext cx="1471463" cy="1619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94A3B8"/>
                </a:solidFill>
                <a:latin typeface="Arial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1519" y="6181725"/>
            <a:ext cx="868412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2100" b="1">
                <a:solidFill>
                  <a:srgbClr val="34D399"/>
                </a:solidFill>
                <a:latin typeface="Arial"/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1519" y="6505575"/>
            <a:ext cx="868412" cy="1619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050">
                <a:solidFill>
                  <a:srgbClr val="94A3B8"/>
                </a:solidFill>
                <a:latin typeface="Arial"/>
              </a:rPr>
              <a:t>Uptime SLA</a:t>
            </a:r>
          </a:p>
        </p:txBody>
      </p:sp>
      <p:pic>
        <p:nvPicPr>
          <p:cNvPr id="13" name="Picture 12" descr="bg_f39cf1690fde15c2fa04106a0d46a2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1676400"/>
            <a:ext cx="3486150" cy="3771900"/>
          </a:xfrm>
          <a:prstGeom prst="rect">
            <a:avLst/>
          </a:prstGeom>
        </p:spPr>
      </p:pic>
      <p:pic>
        <p:nvPicPr>
          <p:cNvPr id="14" name="Picture 13" descr="3a85549d85f46b1ac2a4b7dc146655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1895475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34375" y="18859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65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2276475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0" y="2562225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JWT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0" y="2847975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Encryption at Rest &amp; In-Transit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0" y="3133725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DDoS Mitigation &amp; Rate Limiting</a:t>
            </a:r>
          </a:p>
        </p:txBody>
      </p:sp>
      <p:pic>
        <p:nvPicPr>
          <p:cNvPr id="24" name="Picture 23" descr="3a85549d85f46b1ac2a4b7dc146655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3924300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4375" y="3914775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650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0" y="43053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Multi-region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0" y="459105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Auto-scaling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0" y="48768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Global CDN for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2276475"/>
            <a:ext cx="12769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0" y="516255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Connection Pooling</a:t>
            </a:r>
          </a:p>
        </p:txBody>
      </p:sp>
      <p:pic>
        <p:nvPicPr>
          <p:cNvPr id="34" name="Picture 33" descr="bg_764c2d42c7485a98f251bb69aab862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52700"/>
            <a:ext cx="2876550" cy="2019300"/>
          </a:xfrm>
          <a:prstGeom prst="rect">
            <a:avLst/>
          </a:prstGeom>
        </p:spPr>
      </p:pic>
      <p:pic>
        <p:nvPicPr>
          <p:cNvPr id="35" name="Picture 34" descr="948cb915a37828276493cf2bdacf80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928937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1525" y="2924175"/>
            <a:ext cx="2476500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350">
                <a:solidFill>
                  <a:srgbClr val="94A3B8"/>
                </a:solidFill>
                <a:latin typeface="Arial"/>
              </a:rPr>
              <a:t>API Endpoints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25" y="32670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Threat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525" y="35718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Agent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525" y="38766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Forensics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41814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200">
                <a:solidFill>
                  <a:srgbClr val="CBD5E1"/>
                </a:solidFill>
                <a:latin typeface="Arial"/>
              </a:rPr>
              <a:t>Compliance Reporting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38550" y="3057525"/>
            <a:ext cx="47625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38550" y="3552825"/>
            <a:ext cx="47625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38550" y="4048125"/>
            <a:ext cx="47625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g_5fe1fc94789d113e79216977cb922c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5300" y="1552575"/>
            <a:ext cx="3448050" cy="4019550"/>
          </a:xfrm>
          <a:prstGeom prst="rect">
            <a:avLst/>
          </a:prstGeom>
        </p:spPr>
      </p:pic>
      <p:pic>
        <p:nvPicPr>
          <p:cNvPr id="45" name="Picture 44" descr="bg_b873a035adc07c38369ef084e9fcee9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25" y="1752600"/>
            <a:ext cx="3048000" cy="3619500"/>
          </a:xfrm>
          <a:prstGeom prst="rect">
            <a:avLst/>
          </a:prstGeom>
        </p:spPr>
      </p:pic>
      <p:pic>
        <p:nvPicPr>
          <p:cNvPr id="46" name="Picture 45" descr="948cb915a37828276493cf2bdacf80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2219325"/>
            <a:ext cx="190500" cy="1905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95825" y="2114550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94A3B8"/>
                </a:solidFill>
                <a:latin typeface="Arial"/>
              </a:rPr>
              <a:t>Supabase Infrastructure</a:t>
            </a:r>
          </a:p>
        </p:txBody>
      </p:sp>
      <p:pic>
        <p:nvPicPr>
          <p:cNvPr id="48" name="Picture 47" descr="948cb915a37828276493cf2bdacf80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2657475"/>
            <a:ext cx="190500" cy="190500"/>
          </a:xfrm>
          <a:prstGeom prst="rect">
            <a:avLst/>
          </a:prstGeom>
        </p:spPr>
      </p:pic>
      <p:pic>
        <p:nvPicPr>
          <p:cNvPr id="49" name="Picture 48" descr="948cb915a37828276493cf2bdacf80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2962275"/>
            <a:ext cx="190500" cy="190500"/>
          </a:xfrm>
          <a:prstGeom prst="rect">
            <a:avLst/>
          </a:prstGeom>
        </p:spPr>
      </p:pic>
      <p:pic>
        <p:nvPicPr>
          <p:cNvPr id="50" name="Picture 49" descr="948cb915a37828276493cf2bdacf80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3267075"/>
            <a:ext cx="190500" cy="190500"/>
          </a:xfrm>
          <a:prstGeom prst="rect">
            <a:avLst/>
          </a:prstGeom>
        </p:spPr>
      </p:pic>
      <p:pic>
        <p:nvPicPr>
          <p:cNvPr id="51" name="Picture 50" descr="bg_11f1f1d624118312971232f7e000a6f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52" name="Picture 51" descr="bg_f9ca7f051849f69a9ab820034a31691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803e1ea9c4810352f2ca065a2c7e85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4589264" cy="19198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F0F6FC"/>
                </a:solidFill>
                <a:latin typeface="Arial"/>
              </a:rPr>
              <a:t>Testing &amp;Quality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86632"/>
            <a:ext cx="4589264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8B949E"/>
                </a:solidFill>
                <a:latin typeface="Arial"/>
              </a:rPr>
              <a:t>Comprehensive Validation for Ultimate Reliability</a:t>
            </a:r>
          </a:p>
        </p:txBody>
      </p:sp>
      <p:pic>
        <p:nvPicPr>
          <p:cNvPr id="6" name="Picture 5" descr="bg_11734f6f6dbf0a18ef7601a9f264e3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57" y="3058120"/>
            <a:ext cx="3257550" cy="3257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13421" y="5910298"/>
            <a:ext cx="559891" cy="1447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975">
                <a:solidFill>
                  <a:srgbClr val="0D1117"/>
                </a:solidFill>
                <a:latin typeface="Arial"/>
              </a:rP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2097" y="5910298"/>
            <a:ext cx="395599" cy="1447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975">
                <a:solidFill>
                  <a:srgbClr val="0D1117"/>
                </a:solidFill>
                <a:latin typeface="Arial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0455" y="4077770"/>
            <a:ext cx="420625" cy="144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975">
                <a:solidFill>
                  <a:srgbClr val="0D1117"/>
                </a:solidFill>
                <a:latin typeface="Arial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0258" y="3318712"/>
            <a:ext cx="399276" cy="144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975">
                <a:solidFill>
                  <a:srgbClr val="0D1117"/>
                </a:solidFill>
                <a:latin typeface="Arial"/>
              </a:rPr>
              <a:t>Deliver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603" y="3318712"/>
            <a:ext cx="457386" cy="1447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975">
                <a:solidFill>
                  <a:srgbClr val="0D1117"/>
                </a:solidFill>
                <a:latin typeface="Arial"/>
              </a:rPr>
              <a:t>Support</a:t>
            </a:r>
          </a:p>
        </p:txBody>
      </p:sp>
      <p:pic>
        <p:nvPicPr>
          <p:cNvPr id="12" name="Picture 11" descr="bg_919ad12409e7cc1f7aa3f62b7cf0cc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928" y="3628191"/>
            <a:ext cx="2117407" cy="2117407"/>
          </a:xfrm>
          <a:prstGeom prst="rect">
            <a:avLst/>
          </a:prstGeom>
        </p:spPr>
      </p:pic>
      <p:pic>
        <p:nvPicPr>
          <p:cNvPr id="13" name="Picture 12" descr="9221f2502839d10d423a286d3f0d88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072" y="4117813"/>
            <a:ext cx="579119" cy="5791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415" y="4832664"/>
            <a:ext cx="1936432" cy="4233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50">
                <a:solidFill>
                  <a:srgbClr val="C9D1D9"/>
                </a:solidFill>
                <a:latin typeface="Arial"/>
              </a:rPr>
              <a:t>Software Quality Assurance</a:t>
            </a:r>
          </a:p>
        </p:txBody>
      </p:sp>
      <p:pic>
        <p:nvPicPr>
          <p:cNvPr id="15" name="Picture 14" descr="bg_a472d28deac73551c1647f4644ea5b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764" y="523875"/>
            <a:ext cx="2639317" cy="2803028"/>
          </a:xfrm>
          <a:prstGeom prst="rect">
            <a:avLst/>
          </a:prstGeom>
        </p:spPr>
      </p:pic>
      <p:pic>
        <p:nvPicPr>
          <p:cNvPr id="16" name="Picture 15" descr="c8da0ecdb15538c4ce6bcbcf725b68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889" y="895350"/>
            <a:ext cx="16609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60889" y="762000"/>
            <a:ext cx="216306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C9D1D9"/>
                </a:solidFill>
                <a:latin typeface="Arial"/>
              </a:rPr>
              <a:t>Comprehensive Testing</a:t>
            </a:r>
          </a:p>
        </p:txBody>
      </p:sp>
      <p:pic>
        <p:nvPicPr>
          <p:cNvPr id="18" name="Picture 17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889" y="1390650"/>
            <a:ext cx="152400" cy="152400"/>
          </a:xfrm>
          <a:prstGeom prst="rect">
            <a:avLst/>
          </a:prstGeom>
        </p:spPr>
      </p:pic>
      <p:pic>
        <p:nvPicPr>
          <p:cNvPr id="19" name="Picture 18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889" y="1685925"/>
            <a:ext cx="152400" cy="152400"/>
          </a:xfrm>
          <a:prstGeom prst="rect">
            <a:avLst/>
          </a:prstGeom>
        </p:spPr>
      </p:pic>
      <p:pic>
        <p:nvPicPr>
          <p:cNvPr id="20" name="Picture 19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889" y="1981200"/>
            <a:ext cx="152400" cy="152400"/>
          </a:xfrm>
          <a:prstGeom prst="rect">
            <a:avLst/>
          </a:prstGeom>
        </p:spPr>
      </p:pic>
      <p:pic>
        <p:nvPicPr>
          <p:cNvPr id="21" name="Picture 20" descr="bg_c44bce028059d6a8627984140724c78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0682" y="571500"/>
            <a:ext cx="2639317" cy="2803028"/>
          </a:xfrm>
          <a:prstGeom prst="rect">
            <a:avLst/>
          </a:prstGeom>
        </p:spPr>
      </p:pic>
      <p:pic>
        <p:nvPicPr>
          <p:cNvPr id="22" name="Picture 21" descr="bg_47b5a744397bd319d962b612725b542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8807" y="1447800"/>
            <a:ext cx="2163067" cy="114300"/>
          </a:xfrm>
          <a:prstGeom prst="rect">
            <a:avLst/>
          </a:prstGeom>
        </p:spPr>
      </p:pic>
      <p:pic>
        <p:nvPicPr>
          <p:cNvPr id="23" name="Picture 22" descr="bg_8d6880adb0d51b8936ab56653e30ed4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8807" y="1447800"/>
            <a:ext cx="2054869" cy="114300"/>
          </a:xfrm>
          <a:prstGeom prst="rect">
            <a:avLst/>
          </a:prstGeom>
        </p:spPr>
      </p:pic>
      <p:pic>
        <p:nvPicPr>
          <p:cNvPr id="24" name="Picture 23" descr="948cb915a37828276493cf2bdacf80f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8807" y="828675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28807" y="809625"/>
            <a:ext cx="21630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500">
                <a:solidFill>
                  <a:srgbClr val="C9D1D9"/>
                </a:solidFill>
                <a:latin typeface="Arial"/>
              </a:rPr>
              <a:t>Quality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8807" y="1190625"/>
            <a:ext cx="2163067" cy="180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125">
                <a:solidFill>
                  <a:srgbClr val="C9D1D9"/>
                </a:solidFill>
                <a:latin typeface="Arial"/>
              </a:rPr>
              <a:t>95% Code Coverage</a:t>
            </a:r>
          </a:p>
        </p:txBody>
      </p:sp>
      <p:pic>
        <p:nvPicPr>
          <p:cNvPr id="27" name="Picture 26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8807" y="1733550"/>
            <a:ext cx="152400" cy="152400"/>
          </a:xfrm>
          <a:prstGeom prst="rect">
            <a:avLst/>
          </a:prstGeom>
        </p:spPr>
      </p:pic>
      <p:pic>
        <p:nvPicPr>
          <p:cNvPr id="28" name="Picture 27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8807" y="2209800"/>
            <a:ext cx="152400" cy="152400"/>
          </a:xfrm>
          <a:prstGeom prst="rect">
            <a:avLst/>
          </a:prstGeom>
        </p:spPr>
      </p:pic>
      <p:pic>
        <p:nvPicPr>
          <p:cNvPr id="29" name="Picture 28" descr="bg_c44bce028059d6a8627984140724c78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2764" y="3603128"/>
            <a:ext cx="2639317" cy="2803028"/>
          </a:xfrm>
          <a:prstGeom prst="rect">
            <a:avLst/>
          </a:prstGeom>
        </p:spPr>
      </p:pic>
      <p:pic>
        <p:nvPicPr>
          <p:cNvPr id="30" name="Picture 29" descr="c8da0ecdb15538c4ce6bcbcf725b68e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0889" y="3974603"/>
            <a:ext cx="1555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60889" y="3841253"/>
            <a:ext cx="216306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C9D1D9"/>
                </a:solidFill>
                <a:latin typeface="Arial"/>
              </a:rPr>
              <a:t>Windows 11 Compatibility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0889" y="4450853"/>
            <a:ext cx="738187" cy="247650"/>
          </a:xfrm>
          <a:prstGeom prst="rect">
            <a:avLst/>
          </a:prstGeom>
          <a:noFill/>
          <a:ln>
            <a:noFill/>
          </a:ln>
        </p:spPr>
        <p:txBody>
          <a:bodyPr wrap="none" lIns="76200" rIns="76200" tIns="38100" bIns="38100">
            <a:noAutofit/>
          </a:bodyPr>
          <a:lstStyle/>
          <a:p>
            <a:pPr algn="l">
              <a:lnSpc>
                <a:spcPct val="150000"/>
              </a:lnSpc>
            </a:pPr>
            <a:r>
              <a:rPr sz="900">
                <a:solidFill>
                  <a:srgbClr val="22C55E"/>
                </a:solidFill>
                <a:latin typeface="Arial"/>
              </a:rPr>
              <a:t>CERTIFIED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0889" y="4450853"/>
            <a:ext cx="2163067" cy="8905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>
                <a:solidFill>
                  <a:srgbClr val="8B949E"/>
                </a:solidFill>
                <a:latin typeface="Arial"/>
              </a:rPr>
              <a:t>Full matrix testing across all editions ensures seamless operation and native performance.</a:t>
            </a:r>
          </a:p>
        </p:txBody>
      </p:sp>
      <p:pic>
        <p:nvPicPr>
          <p:cNvPr id="34" name="Picture 33" descr="bg_c44bce028059d6a8627984140724c78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0682" y="3603128"/>
            <a:ext cx="2639317" cy="2803028"/>
          </a:xfrm>
          <a:prstGeom prst="rect">
            <a:avLst/>
          </a:prstGeom>
        </p:spPr>
      </p:pic>
      <p:pic>
        <p:nvPicPr>
          <p:cNvPr id="35" name="Picture 34" descr="948cb915a37828276493cf2bdacf80f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8807" y="3860303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28807" y="3841253"/>
            <a:ext cx="21630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500">
                <a:solidFill>
                  <a:srgbClr val="C9D1D9"/>
                </a:solidFill>
                <a:latin typeface="Arial"/>
              </a:rPr>
              <a:t>Security Validation</a:t>
            </a:r>
          </a:p>
        </p:txBody>
      </p:sp>
      <p:pic>
        <p:nvPicPr>
          <p:cNvPr id="37" name="Picture 36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8807" y="4241303"/>
            <a:ext cx="152400" cy="152400"/>
          </a:xfrm>
          <a:prstGeom prst="rect">
            <a:avLst/>
          </a:prstGeom>
        </p:spPr>
      </p:pic>
      <p:pic>
        <p:nvPicPr>
          <p:cNvPr id="38" name="Picture 37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8807" y="4536578"/>
            <a:ext cx="152400" cy="152400"/>
          </a:xfrm>
          <a:prstGeom prst="rect">
            <a:avLst/>
          </a:prstGeom>
        </p:spPr>
      </p:pic>
      <p:pic>
        <p:nvPicPr>
          <p:cNvPr id="39" name="Picture 38" descr="06b2d1879708817e26aaad90209b583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8807" y="4831853"/>
            <a:ext cx="152400" cy="152400"/>
          </a:xfrm>
          <a:prstGeom prst="rect">
            <a:avLst/>
          </a:prstGeom>
        </p:spPr>
      </p:pic>
      <p:pic>
        <p:nvPicPr>
          <p:cNvPr id="40" name="Picture 39" descr="bg_11f1f1d624118312971232f7e000a6f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41" name="Picture 40" descr="bg_f9ca7f051849f69a9ab820034a31691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1bfab9a8a671c9a21d53745156d4a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4677" y="542180"/>
            <a:ext cx="5442495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3900" b="1">
                <a:solidFill>
                  <a:srgbClr val="1C3D5A"/>
                </a:solidFill>
                <a:latin typeface="Arial"/>
              </a:rPr>
              <a:t>Documentation Package</a:t>
            </a:r>
          </a:p>
        </p:txBody>
      </p:sp>
      <p:pic>
        <p:nvPicPr>
          <p:cNvPr id="5" name="Picture 4" descr="bg_71ae2c4b9a3db6683d6412073c97af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4205"/>
            <a:ext cx="5381625" cy="24303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2575" y="1947862"/>
            <a:ext cx="1340494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>
                <a:solidFill>
                  <a:srgbClr val="333333"/>
                </a:solidFill>
                <a:latin typeface="Arial"/>
              </a:rPr>
              <a:t>User Guides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582019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Installation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2953494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324969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Troubleshooting</a:t>
            </a:r>
          </a:p>
        </p:txBody>
      </p:sp>
      <p:pic>
        <p:nvPicPr>
          <p:cNvPr id="13" name="Picture 12" descr="bg_4848ca181e272312ffa6c0f537ff88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04205"/>
            <a:ext cx="5381625" cy="24303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9950" y="1947862"/>
            <a:ext cx="2348656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950">
                <a:solidFill>
                  <a:srgbClr val="333333"/>
                </a:solidFill>
                <a:latin typeface="Arial"/>
              </a:rPr>
              <a:t>Administrator Guides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2582019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953494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3324969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Maintenance</a:t>
            </a:r>
          </a:p>
        </p:txBody>
      </p:sp>
      <p:pic>
        <p:nvPicPr>
          <p:cNvPr id="21" name="Picture 20" descr="bg_74371484354f9530308aac1f139bf8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20319"/>
            <a:ext cx="5381625" cy="24303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2575" y="4663975"/>
            <a:ext cx="2149375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>
                <a:solidFill>
                  <a:srgbClr val="333333"/>
                </a:solidFill>
                <a:latin typeface="Arial"/>
              </a:rPr>
              <a:t>API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529813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Complete endpoint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5669607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Integration guides</a:t>
            </a:r>
          </a:p>
        </p:txBody>
      </p:sp>
      <p:pic>
        <p:nvPicPr>
          <p:cNvPr id="27" name="Picture 26" descr="bg_546b60708cfac0d20ece33e62d0c20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220319"/>
            <a:ext cx="5381625" cy="243036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19950" y="4663975"/>
            <a:ext cx="193714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950">
                <a:solidFill>
                  <a:srgbClr val="333333"/>
                </a:solidFill>
                <a:latin typeface="Arial"/>
              </a:rPr>
              <a:t>Compliance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529813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Framework mappings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0" y="5669607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Audit procedures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641" y="2580977"/>
            <a:ext cx="12769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250" y="604108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555555"/>
                </a:solidFill>
                <a:latin typeface="Arial"/>
              </a:rPr>
              <a:t>Evidence collection</a:t>
            </a:r>
          </a:p>
        </p:txBody>
      </p:sp>
      <p:pic>
        <p:nvPicPr>
          <p:cNvPr id="35" name="Picture 34" descr="bg_df308cbf41ebccb97bc222f7ea603f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1677" y="6267450"/>
            <a:ext cx="2149822" cy="400050"/>
          </a:xfrm>
          <a:prstGeom prst="rect">
            <a:avLst/>
          </a:prstGeom>
        </p:spPr>
      </p:pic>
      <p:pic>
        <p:nvPicPr>
          <p:cNvPr id="36" name="Picture 35" descr="bg_f9ca7f051849f69a9ab820034a3169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977" y="6362700"/>
            <a:ext cx="24765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89827" y="6400800"/>
            <a:ext cx="1349722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5130254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Arial"/>
              </a:rPr>
              <a:t>Deployment Readiness</a:t>
            </a:r>
          </a:p>
        </p:txBody>
      </p:sp>
      <p:pic>
        <p:nvPicPr>
          <p:cNvPr id="5" name="Picture 4" descr="bg_7ab80e3dd33c48f2c612dc71fb7e3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14475"/>
            <a:ext cx="5191125" cy="22877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1762125"/>
            <a:ext cx="460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650">
                <a:solidFill>
                  <a:srgbClr val="34495E"/>
                </a:solidFill>
                <a:latin typeface="Arial"/>
              </a:rPr>
              <a:t>Production Status</a:t>
            </a:r>
          </a:p>
        </p:txBody>
      </p:sp>
      <p:pic>
        <p:nvPicPr>
          <p:cNvPr id="7" name="Picture 6" descr="bg_a35008b90837cab456399489f45043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3145035"/>
            <a:ext cx="1413271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24075" y="3202185"/>
            <a:ext cx="1184671" cy="1619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57150" bIns="57150">
            <a:noAutofit/>
          </a:bodyPr>
          <a:lstStyle/>
          <a:p>
            <a:pPr algn="l"/>
            <a:r>
              <a:rPr sz="1050">
                <a:solidFill>
                  <a:srgbClr val="1ABC9C"/>
                </a:solidFill>
                <a:latin typeface="Arial"/>
              </a:rPr>
              <a:t>FULLY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9775" y="2286000"/>
            <a:ext cx="3648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500">
                <a:solidFill>
                  <a:srgbClr val="2C3E50"/>
                </a:solidFill>
                <a:latin typeface="Arial"/>
              </a:rPr>
              <a:t>All Systems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9775" y="2562225"/>
            <a:ext cx="3648075" cy="48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7F8C8D"/>
                </a:solidFill>
                <a:latin typeface="Arial"/>
              </a:rPr>
              <a:t>All components have been rigorously tested and validated for production environments.</a:t>
            </a:r>
          </a:p>
        </p:txBody>
      </p:sp>
      <p:pic>
        <p:nvPicPr>
          <p:cNvPr id="11" name="Picture 10" descr="bg_7ab80e3dd33c48f2c612dc71fb7e3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514475"/>
            <a:ext cx="5191125" cy="22877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4150" y="1762125"/>
            <a:ext cx="460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650">
                <a:solidFill>
                  <a:srgbClr val="34495E"/>
                </a:solidFill>
                <a:latin typeface="Arial"/>
              </a:rPr>
              <a:t>Scalability</a:t>
            </a:r>
          </a:p>
        </p:txBody>
      </p:sp>
      <p:pic>
        <p:nvPicPr>
          <p:cNvPr id="13" name="Picture 12" descr="bg_8608e1ca3966d3add9e86a4b1257d5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440310"/>
            <a:ext cx="4600575" cy="114300"/>
          </a:xfrm>
          <a:prstGeom prst="rect">
            <a:avLst/>
          </a:prstGeom>
        </p:spPr>
      </p:pic>
      <p:pic>
        <p:nvPicPr>
          <p:cNvPr id="14" name="Picture 13" descr="bg_f253687e2a665e767d20ee972a1885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440310"/>
            <a:ext cx="4600575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4150" y="2152650"/>
            <a:ext cx="1540668" cy="5619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3600" b="1">
                <a:solidFill>
                  <a:srgbClr val="3498DB"/>
                </a:solidFill>
                <a:latin typeface="Arial"/>
              </a:rPr>
              <a:t>1000+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818" y="2419350"/>
            <a:ext cx="976758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500">
                <a:solidFill>
                  <a:srgbClr val="7F8C8D"/>
                </a:solidFill>
                <a:latin typeface="Arial"/>
              </a:rPr>
              <a:t>agents/org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809875"/>
            <a:ext cx="4600575" cy="48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7F8C8D"/>
                </a:solidFill>
                <a:latin typeface="Arial"/>
              </a:rPr>
              <a:t>Engineered to support large-scale enterprise deployments with high performance.</a:t>
            </a:r>
          </a:p>
        </p:txBody>
      </p:sp>
      <p:pic>
        <p:nvPicPr>
          <p:cNvPr id="18" name="Picture 17" descr="bg_819a9e8a99484c071bdd800bc1e65c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088010"/>
            <a:ext cx="10668000" cy="22288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7275" y="4335660"/>
            <a:ext cx="1007745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650">
                <a:solidFill>
                  <a:srgbClr val="34495E"/>
                </a:solidFill>
                <a:latin typeface="Arial"/>
              </a:rPr>
              <a:t>Support &amp; Next Steps</a:t>
            </a:r>
          </a:p>
        </p:txBody>
      </p:sp>
      <p:pic>
        <p:nvPicPr>
          <p:cNvPr id="20" name="Picture 19" descr="bg_501dba28ff5f073bfa39dfd3917f64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450" y="4726185"/>
            <a:ext cx="6626274" cy="13430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436691" y="5478660"/>
            <a:ext cx="5064769" cy="28575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g_2ececfb31f6a793bf57d74d4f50fc3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4173" y="5107185"/>
            <a:ext cx="438150" cy="438150"/>
          </a:xfrm>
          <a:prstGeom prst="rect">
            <a:avLst/>
          </a:prstGeom>
        </p:spPr>
      </p:pic>
      <p:pic>
        <p:nvPicPr>
          <p:cNvPr id="23" name="Picture 22" descr="948cb915a37828276493cf2bdacf80f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998" y="5231010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86920" y="5688210"/>
            <a:ext cx="173280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200">
                <a:solidFill>
                  <a:srgbClr val="2C3E50"/>
                </a:solidFill>
                <a:latin typeface="Arial"/>
              </a:rPr>
              <a:t>Production Deployment</a:t>
            </a:r>
          </a:p>
        </p:txBody>
      </p:sp>
      <p:pic>
        <p:nvPicPr>
          <p:cNvPr id="25" name="Picture 24" descr="bg_2ececfb31f6a793bf57d74d4f50fc3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0075" y="5107185"/>
            <a:ext cx="438150" cy="438150"/>
          </a:xfrm>
          <a:prstGeom prst="rect">
            <a:avLst/>
          </a:prstGeom>
        </p:spPr>
      </p:pic>
      <p:pic>
        <p:nvPicPr>
          <p:cNvPr id="26" name="Picture 25" descr="948cb915a37828276493cf2bdacf80f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900" y="5231010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76678" y="5688210"/>
            <a:ext cx="98509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200">
                <a:solidFill>
                  <a:srgbClr val="2C3E50"/>
                </a:solidFill>
                <a:latin typeface="Arial"/>
              </a:rPr>
              <a:t>User Training</a:t>
            </a:r>
          </a:p>
        </p:txBody>
      </p:sp>
      <p:pic>
        <p:nvPicPr>
          <p:cNvPr id="28" name="Picture 27" descr="bg_2ececfb31f6a793bf57d74d4f50fc3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977" y="5107185"/>
            <a:ext cx="438150" cy="438150"/>
          </a:xfrm>
          <a:prstGeom prst="rect">
            <a:avLst/>
          </a:prstGeom>
        </p:spPr>
      </p:pic>
      <p:pic>
        <p:nvPicPr>
          <p:cNvPr id="29" name="Picture 28" descr="948cb915a37828276493cf2bdacf80f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9802" y="5231010"/>
            <a:ext cx="190500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74088" y="5688210"/>
            <a:ext cx="162192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200">
                <a:solidFill>
                  <a:srgbClr val="2C3E50"/>
                </a:solidFill>
                <a:latin typeface="Arial"/>
              </a:rPr>
              <a:t>Ongoing Maintenance</a:t>
            </a:r>
          </a:p>
        </p:txBody>
      </p:sp>
      <p:pic>
        <p:nvPicPr>
          <p:cNvPr id="31" name="Picture 30" descr="3a85549d85f46b1ac2a4b7dc1466558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" y="4726185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28750" y="4740473"/>
            <a:ext cx="2552997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34495E"/>
                </a:solidFill>
                <a:latin typeface="Arial"/>
              </a:rPr>
              <a:t>Comprehensive Documentation</a:t>
            </a:r>
          </a:p>
        </p:txBody>
      </p:sp>
      <p:pic>
        <p:nvPicPr>
          <p:cNvPr id="33" name="Picture 32" descr="3a85549d85f46b1ac2a4b7dc1466558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" y="5097660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28750" y="5111948"/>
            <a:ext cx="1929407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34495E"/>
                </a:solidFill>
                <a:latin typeface="Arial"/>
              </a:rPr>
              <a:t>Troubleshooting Guides</a:t>
            </a:r>
          </a:p>
        </p:txBody>
      </p:sp>
      <p:pic>
        <p:nvPicPr>
          <p:cNvPr id="35" name="Picture 34" descr="3a85549d85f46b1ac2a4b7dc1466558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" y="5469135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8750" y="5483423"/>
            <a:ext cx="201483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350">
                <a:solidFill>
                  <a:srgbClr val="34495E"/>
                </a:solidFill>
                <a:latin typeface="Arial"/>
              </a:rPr>
              <a:t>Dedicated Support Team</a:t>
            </a:r>
          </a:p>
        </p:txBody>
      </p:sp>
      <p:pic>
        <p:nvPicPr>
          <p:cNvPr id="37" name="Picture 36" descr="bg_11f1f1d624118312971232f7e000a6f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38" name="Picture 37" descr="bg_f9ca7f051849f69a9ab820034a31691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813ea33d1421eccf0a5a80aff9ee79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80209" y="322064"/>
            <a:ext cx="5031581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rial"/>
              </a:rPr>
              <a:t>Technical Specifications</a:t>
            </a:r>
          </a:p>
        </p:txBody>
      </p:sp>
      <p:pic>
        <p:nvPicPr>
          <p:cNvPr id="5" name="Picture 4" descr="bg_91cf24054a6507e2260b1f247cb7aa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217414"/>
            <a:ext cx="5124450" cy="2764035"/>
          </a:xfrm>
          <a:prstGeom prst="rect">
            <a:avLst/>
          </a:prstGeom>
        </p:spPr>
      </p:pic>
      <p:pic>
        <p:nvPicPr>
          <p:cNvPr id="6" name="Picture 5" descr="93d56933332a0affbdab8f18849393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1613594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38275" y="1613594"/>
            <a:ext cx="187434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500">
                <a:solidFill>
                  <a:srgbClr val="F9FAFB"/>
                </a:solidFill>
                <a:latin typeface="Arial"/>
              </a:rPr>
              <a:t>Agent Requirements</a:t>
            </a:r>
          </a:p>
        </p:txBody>
      </p:sp>
      <p:pic>
        <p:nvPicPr>
          <p:cNvPr id="8" name="Picture 7" descr="bg_02c7997187e2b58dafc24f4ec6f4a0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2190750"/>
            <a:ext cx="46482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75" y="2214562"/>
            <a:ext cx="128944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Operating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7978" y="2190750"/>
            <a:ext cx="965596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Windows 11</a:t>
            </a:r>
          </a:p>
        </p:txBody>
      </p:sp>
      <p:pic>
        <p:nvPicPr>
          <p:cNvPr id="11" name="Picture 10" descr="bg_260bcba08fd979f614d89c907ae417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2533650"/>
            <a:ext cx="464820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5375" y="2652712"/>
            <a:ext cx="34096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4519" y="2628900"/>
            <a:ext cx="539055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4 GB</a:t>
            </a:r>
          </a:p>
        </p:txBody>
      </p:sp>
      <p:pic>
        <p:nvPicPr>
          <p:cNvPr id="14" name="Picture 13" descr="bg_260bcba08fd979f614d89c907ae417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2971800"/>
            <a:ext cx="464820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5375" y="3090862"/>
            <a:ext cx="80798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Disk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9877" y="3067050"/>
            <a:ext cx="533697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2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3529012"/>
            <a:ext cx="59814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9937" y="3505200"/>
            <a:ext cx="763637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TPM 2.0</a:t>
            </a:r>
          </a:p>
        </p:txBody>
      </p:sp>
      <p:pic>
        <p:nvPicPr>
          <p:cNvPr id="19" name="Picture 18" descr="bg_91cf24054a6507e2260b1f247cb7aa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217414"/>
            <a:ext cx="5124450" cy="2764035"/>
          </a:xfrm>
          <a:prstGeom prst="rect">
            <a:avLst/>
          </a:prstGeom>
        </p:spPr>
      </p:pic>
      <p:pic>
        <p:nvPicPr>
          <p:cNvPr id="20" name="Picture 19" descr="93d56933332a0affbdab8f18849393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1613594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91325" y="1613594"/>
            <a:ext cx="20791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9FAFB"/>
                </a:solidFill>
                <a:latin typeface="Arial"/>
              </a:rPr>
              <a:t>Console Requirements</a:t>
            </a:r>
          </a:p>
        </p:txBody>
      </p:sp>
      <p:pic>
        <p:nvPicPr>
          <p:cNvPr id="22" name="Picture 21" descr="bg_02c7997187e2b58dafc24f4ec6f4a0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190750"/>
            <a:ext cx="46482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8425" y="2214562"/>
            <a:ext cx="64650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5411" y="2190750"/>
            <a:ext cx="1611213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Modern Web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2652712"/>
            <a:ext cx="612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125" y="2628900"/>
            <a:ext cx="1568499" cy="238125"/>
          </a:xfrm>
          <a:prstGeom prst="rect">
            <a:avLst/>
          </a:prstGeom>
          <a:noFill/>
          <a:ln>
            <a:noFill/>
          </a:ln>
        </p:spPr>
        <p:txBody>
          <a:bodyPr wrap="squar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Internet Connectivity</a:t>
            </a:r>
          </a:p>
        </p:txBody>
      </p:sp>
      <p:pic>
        <p:nvPicPr>
          <p:cNvPr id="27" name="Picture 26" descr="bg_83ff50d9f0a82ffd00f9966179623f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210050"/>
            <a:ext cx="5124450" cy="2325885"/>
          </a:xfrm>
          <a:prstGeom prst="rect">
            <a:avLst/>
          </a:prstGeom>
        </p:spPr>
      </p:pic>
      <p:pic>
        <p:nvPicPr>
          <p:cNvPr id="28" name="Picture 27" descr="93d56933332a0affbdab8f18849393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4606230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38275" y="4606230"/>
            <a:ext cx="212124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9FAFB"/>
                </a:solidFill>
                <a:latin typeface="Arial"/>
              </a:rPr>
              <a:t>Backend Requirements</a:t>
            </a:r>
          </a:p>
        </p:txBody>
      </p:sp>
      <p:pic>
        <p:nvPicPr>
          <p:cNvPr id="30" name="Picture 29" descr="bg_02c7997187e2b58dafc24f4ec6f4a0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5183385"/>
            <a:ext cx="4648200" cy="3429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5375" y="5207198"/>
            <a:ext cx="978842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9308" y="5183385"/>
            <a:ext cx="1274266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Supabase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" y="5645348"/>
            <a:ext cx="68148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9821" y="5621535"/>
            <a:ext cx="983753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PostgreSQL</a:t>
            </a:r>
          </a:p>
        </p:txBody>
      </p:sp>
      <p:pic>
        <p:nvPicPr>
          <p:cNvPr id="35" name="Picture 34" descr="bg_83ff50d9f0a82ffd00f9966179623f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210050"/>
            <a:ext cx="5124450" cy="2325885"/>
          </a:xfrm>
          <a:prstGeom prst="rect">
            <a:avLst/>
          </a:prstGeom>
        </p:spPr>
      </p:pic>
      <p:pic>
        <p:nvPicPr>
          <p:cNvPr id="36" name="Picture 35" descr="93d56933332a0affbdab8f18849393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4606230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91325" y="4606230"/>
            <a:ext cx="211112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00">
                <a:solidFill>
                  <a:srgbClr val="F9FAFB"/>
                </a:solidFill>
                <a:latin typeface="Arial"/>
              </a:rPr>
              <a:t>Network Requirements</a:t>
            </a:r>
          </a:p>
        </p:txBody>
      </p:sp>
      <p:pic>
        <p:nvPicPr>
          <p:cNvPr id="38" name="Picture 37" descr="bg_02c7997187e2b58dafc24f4ec6f4a0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5183385"/>
            <a:ext cx="4648200" cy="3429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48425" y="5207198"/>
            <a:ext cx="101396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Secure Traffic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0420" y="5183385"/>
            <a:ext cx="1066204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HTTPS (443)</a:t>
            </a:r>
          </a:p>
        </p:txBody>
      </p:sp>
      <p:pic>
        <p:nvPicPr>
          <p:cNvPr id="41" name="Picture 40" descr="bg_260bcba08fd979f614d89c907ae417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5526285"/>
            <a:ext cx="4648200" cy="4381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48425" y="5645348"/>
            <a:ext cx="116219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Console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27753" y="5621535"/>
            <a:ext cx="968871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TCP (8080)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8425" y="6083498"/>
            <a:ext cx="1334095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9CA3AF"/>
                </a:solidFill>
                <a:latin typeface="Arial"/>
              </a:rPr>
              <a:t>Real-time Updates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4865" y="6059685"/>
            <a:ext cx="741759" cy="238125"/>
          </a:xfrm>
          <a:prstGeom prst="rect">
            <a:avLst/>
          </a:prstGeom>
          <a:noFill/>
          <a:ln>
            <a:noFill/>
          </a:ln>
        </p:spPr>
        <p:txBody>
          <a:bodyPr wrap="none" lIns="114300" rIns="114300" tIns="38100" bIns="38100">
            <a:no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Arial"/>
              </a:rPr>
              <a:t>Enabled</a:t>
            </a:r>
          </a:p>
        </p:txBody>
      </p:sp>
      <p:pic>
        <p:nvPicPr>
          <p:cNvPr id="46" name="Picture 45" descr="bg_11f1f1d624118312971232f7e000a6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47" name="Picture 46" descr="bg_f9ca7f051849f69a9ab820034a3169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76250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Success Metrics &amp; KPIs</a:t>
            </a:r>
          </a:p>
        </p:txBody>
      </p:sp>
      <p:pic>
        <p:nvPicPr>
          <p:cNvPr id="5" name="Picture 4" descr="bg_bfc0b1334cb32192d22b7884d5d258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43050"/>
            <a:ext cx="3492400" cy="2647950"/>
          </a:xfrm>
          <a:prstGeom prst="rect">
            <a:avLst/>
          </a:prstGeom>
        </p:spPr>
      </p:pic>
      <p:pic>
        <p:nvPicPr>
          <p:cNvPr id="6" name="Picture 5" descr="bg_53b359ed8d2fa07fadd28b09b3ee1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25" y="2219325"/>
            <a:ext cx="1428750" cy="1428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4278" y="2671762"/>
            <a:ext cx="946844" cy="523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2700" b="1">
                <a:solidFill>
                  <a:srgbClr val="64FFDA"/>
                </a:solidFill>
                <a:latin typeface="Arial"/>
              </a:rPr>
              <a:t>98%+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1790700"/>
            <a:ext cx="29971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Installation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43325"/>
            <a:ext cx="29971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8892B0"/>
                </a:solidFill>
                <a:latin typeface="Arial"/>
              </a:rPr>
              <a:t>Validated Deployments</a:t>
            </a:r>
          </a:p>
        </p:txBody>
      </p:sp>
      <p:pic>
        <p:nvPicPr>
          <p:cNvPr id="10" name="Picture 9" descr="bg_4b2d13c2955c5be9079ae2cca0b13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543050"/>
            <a:ext cx="3492549" cy="2647950"/>
          </a:xfrm>
          <a:prstGeom prst="rect">
            <a:avLst/>
          </a:prstGeom>
        </p:spPr>
      </p:pic>
      <p:pic>
        <p:nvPicPr>
          <p:cNvPr id="11" name="Picture 10" descr="bg_2f4e3b4596d292ba0d958e14adb2b2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300" y="3552825"/>
            <a:ext cx="2997249" cy="3905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42185" y="3638550"/>
            <a:ext cx="1087487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200">
                <a:solidFill>
                  <a:srgbClr val="CCD6F6"/>
                </a:solidFill>
                <a:latin typeface="Arial"/>
              </a:rPr>
              <a:t>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6651" y="3638550"/>
            <a:ext cx="302865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200">
                <a:solidFill>
                  <a:srgbClr val="64FFDA"/>
                </a:solidFill>
                <a:latin typeface="Arial"/>
              </a:rPr>
              <a:t>&lt;2%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300" y="1790700"/>
            <a:ext cx="2997249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Detection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300" y="2219325"/>
            <a:ext cx="2997249" cy="1333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95%+</a:t>
            </a:r>
          </a:p>
        </p:txBody>
      </p:sp>
      <p:pic>
        <p:nvPicPr>
          <p:cNvPr id="16" name="Picture 15" descr="bg_bfc0b1334cb32192d22b7884d5d258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50" y="1543050"/>
            <a:ext cx="3492400" cy="2647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75600" y="1790700"/>
            <a:ext cx="2997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8908" y="2590800"/>
            <a:ext cx="1530101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Arial"/>
              </a:rPr>
              <a:t>&lt;100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95210" y="2624137"/>
            <a:ext cx="364182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800">
                <a:solidFill>
                  <a:srgbClr val="8892B0"/>
                </a:solidFill>
                <a:latin typeface="Arial"/>
              </a:rPr>
              <a:t>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600" y="3743325"/>
            <a:ext cx="29971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8892B0"/>
                </a:solidFill>
                <a:latin typeface="Arial"/>
              </a:rPr>
              <a:t>Threat Detection Latency</a:t>
            </a:r>
          </a:p>
        </p:txBody>
      </p:sp>
      <p:pic>
        <p:nvPicPr>
          <p:cNvPr id="21" name="Picture 20" descr="bg_bfc0b1334cb32192d22b7884d5d258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76750"/>
            <a:ext cx="3492400" cy="2647950"/>
          </a:xfrm>
          <a:prstGeom prst="rect">
            <a:avLst/>
          </a:prstGeom>
        </p:spPr>
      </p:pic>
      <p:pic>
        <p:nvPicPr>
          <p:cNvPr id="22" name="Picture 21" descr="bg_d851986997ca2d5fa523657193f6e7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724525"/>
            <a:ext cx="2997100" cy="285750"/>
          </a:xfrm>
          <a:prstGeom prst="rect">
            <a:avLst/>
          </a:prstGeom>
        </p:spPr>
      </p:pic>
      <p:pic>
        <p:nvPicPr>
          <p:cNvPr id="23" name="Picture 22" descr="bg_0c9cc8fd205ec4e2491be7f1f0247e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724525"/>
            <a:ext cx="2697360" cy="285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06215" y="5748337"/>
            <a:ext cx="422969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Arial"/>
              </a:rPr>
              <a:t>90%+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724400"/>
            <a:ext cx="2997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Compliance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6677025"/>
            <a:ext cx="29971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8892B0"/>
                </a:solidFill>
                <a:latin typeface="Arial"/>
              </a:rPr>
              <a:t>Across All Frameworks</a:t>
            </a:r>
          </a:p>
        </p:txBody>
      </p:sp>
      <p:pic>
        <p:nvPicPr>
          <p:cNvPr id="27" name="Picture 26" descr="bg_bfc0b1334cb32192d22b7884d5d258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650" y="4476750"/>
            <a:ext cx="3492549" cy="2647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97300" y="4724400"/>
            <a:ext cx="2997249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User Satisfaction</a:t>
            </a:r>
          </a:p>
        </p:txBody>
      </p:sp>
      <p:pic>
        <p:nvPicPr>
          <p:cNvPr id="29" name="Picture 28" descr="bg_f255dbeb3980c1716751651fea5be96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412" y="5643562"/>
            <a:ext cx="2073026" cy="447675"/>
          </a:xfrm>
          <a:prstGeom prst="rect">
            <a:avLst/>
          </a:prstGeom>
        </p:spPr>
      </p:pic>
      <p:pic>
        <p:nvPicPr>
          <p:cNvPr id="30" name="Picture 29" descr="9d0edc5163b70acbaceae3dda82bf9f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9437" y="575310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83287" y="5748337"/>
            <a:ext cx="1349126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64FFDA"/>
                </a:solidFill>
                <a:latin typeface="Arial"/>
              </a:rPr>
              <a:t>Enterprise-Grade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7300" y="6677025"/>
            <a:ext cx="2997249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8892B0"/>
                </a:solidFill>
                <a:latin typeface="Arial"/>
              </a:rPr>
              <a:t>Proven Reliability &amp; Usability</a:t>
            </a:r>
          </a:p>
        </p:txBody>
      </p:sp>
      <p:pic>
        <p:nvPicPr>
          <p:cNvPr id="33" name="Picture 32" descr="bg_751df3d9d7f8df4e62a2d8d53557b1f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4476750"/>
            <a:ext cx="3492400" cy="2647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24416" y="5786437"/>
            <a:ext cx="2899469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Measurable Achievements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5340" y="6196012"/>
            <a:ext cx="2397621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050">
                <a:solidFill>
                  <a:srgbClr val="8892B0"/>
                </a:solidFill>
                <a:latin typeface="Arial"/>
              </a:rPr>
              <a:t>Demonstrating enterprise readiness and high performance.</a:t>
            </a:r>
          </a:p>
        </p:txBody>
      </p:sp>
      <p:pic>
        <p:nvPicPr>
          <p:cNvPr id="36" name="Picture 35" descr="bg_11f1f1d624118312971232f7e000a6f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37" name="Picture 36" descr="bg_f9ca7f051849f69a9ab820034a31691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g_cbcb32f11689b6880233a11f14798c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610100"/>
            <a:ext cx="10477500" cy="1638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775" y="4905375"/>
            <a:ext cx="9696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500">
                <a:solidFill>
                  <a:srgbClr val="CCD6F6"/>
                </a:solidFill>
                <a:latin typeface="Arial"/>
              </a:rPr>
              <a:t>Ready to go live? Begin your production deployment with our full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3742" y="5381625"/>
            <a:ext cx="3744515" cy="571500"/>
          </a:xfrm>
          <a:prstGeom prst="rect">
            <a:avLst/>
          </a:prstGeom>
          <a:noFill/>
          <a:ln>
            <a:noFill/>
          </a:ln>
        </p:spPr>
        <p:txBody>
          <a:bodyPr wrap="square" lIns="428625" rIns="428625" tIns="142875" bIns="142875">
            <a:noAutofit/>
          </a:bodyPr>
          <a:lstStyle/>
          <a:p>
            <a:pPr algn="ctr"/>
            <a:r>
              <a:rPr sz="1500">
                <a:solidFill>
                  <a:srgbClr val="0A192F"/>
                </a:solidFill>
                <a:latin typeface="Arial"/>
              </a:rPr>
              <a:t>Begin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47750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4200" b="1">
                <a:solidFill>
                  <a:srgbClr val="64FFDA"/>
                </a:solidFill>
                <a:latin typeface="Arial"/>
              </a:rPr>
              <a:t>Thank You &amp; Next Steps</a:t>
            </a:r>
          </a:p>
        </p:txBody>
      </p:sp>
      <p:pic>
        <p:nvPicPr>
          <p:cNvPr id="8" name="Picture 7" descr="bg_d0fd55012cf613eac3f336820415a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00225"/>
            <a:ext cx="5048250" cy="2428875"/>
          </a:xfrm>
          <a:prstGeom prst="rect">
            <a:avLst/>
          </a:prstGeom>
        </p:spPr>
      </p:pic>
      <p:pic>
        <p:nvPicPr>
          <p:cNvPr id="9" name="Picture 8" descr="790da3f024ea1bd8b826da825d07c5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2128837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525" y="2095500"/>
            <a:ext cx="4457700" cy="4476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95250">
            <a:noAutofit/>
          </a:bodyPr>
          <a:lstStyle/>
          <a:p>
            <a:pPr algn="l"/>
            <a:r>
              <a:rPr sz="1800">
                <a:solidFill>
                  <a:srgbClr val="CCD6F6"/>
                </a:solidFill>
                <a:latin typeface="Arial"/>
              </a:rPr>
              <a:t>Contact &amp;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743200"/>
            <a:ext cx="1654224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350" b="1">
                <a:solidFill>
                  <a:srgbClr val="A8B2D1"/>
                </a:solidFill>
                <a:latin typeface="Arial"/>
              </a:rPr>
              <a:t>Technical Support: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588" y="2743200"/>
            <a:ext cx="2012602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support@example.com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143250"/>
            <a:ext cx="2147143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 b="1">
                <a:solidFill>
                  <a:srgbClr val="A8B2D1"/>
                </a:solidFill>
                <a:latin typeface="Arial"/>
              </a:rPr>
              <a:t>Deployment Assistance: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5507" y="3143250"/>
            <a:ext cx="1931937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deploy@example.com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543300"/>
            <a:ext cx="226248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 b="1">
                <a:solidFill>
                  <a:srgbClr val="A8B2D1"/>
                </a:solidFill>
                <a:latin typeface="Arial"/>
              </a:rPr>
              <a:t>Dedicated Slack Channel: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849" y="3543300"/>
            <a:ext cx="201543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#your-project-channel</a:t>
            </a:r>
          </a:p>
        </p:txBody>
      </p:sp>
      <p:pic>
        <p:nvPicPr>
          <p:cNvPr id="17" name="Picture 16" descr="bg_d0fd55012cf613eac3f336820415a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00225"/>
            <a:ext cx="5048250" cy="2428875"/>
          </a:xfrm>
          <a:prstGeom prst="rect">
            <a:avLst/>
          </a:prstGeom>
        </p:spPr>
      </p:pic>
      <p:pic>
        <p:nvPicPr>
          <p:cNvPr id="18" name="Picture 17" descr="790da3f024ea1bd8b826da825d07c5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128837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1775" y="2095500"/>
            <a:ext cx="4457700" cy="4476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95250">
            <a:noAutofit/>
          </a:bodyPr>
          <a:lstStyle/>
          <a:p>
            <a:pPr algn="l"/>
            <a:r>
              <a:rPr sz="1800">
                <a:solidFill>
                  <a:srgbClr val="CCD6F6"/>
                </a:solidFill>
                <a:latin typeface="Arial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2743200"/>
            <a:ext cx="2750343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Comprehensive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143250"/>
            <a:ext cx="264914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On-demand Training 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543300"/>
            <a:ext cx="1798736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r>
              <a:rPr sz="1350">
                <a:solidFill>
                  <a:srgbClr val="64FFDA"/>
                </a:solidFill>
                <a:latin typeface="Arial"/>
              </a:rPr>
              <a:t>API Reference &amp; SDKs</a:t>
            </a:r>
          </a:p>
        </p:txBody>
      </p:sp>
      <p:pic>
        <p:nvPicPr>
          <p:cNvPr id="23" name="Picture 22" descr="bg_11f1f1d624118312971232f7e000a6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756" y="6267450"/>
            <a:ext cx="2140743" cy="400050"/>
          </a:xfrm>
          <a:prstGeom prst="rect">
            <a:avLst/>
          </a:prstGeom>
        </p:spPr>
      </p:pic>
      <p:pic>
        <p:nvPicPr>
          <p:cNvPr id="24" name="Picture 23" descr="bg_f9ca7f051849f69a9ab820034a3169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056" y="6362700"/>
            <a:ext cx="2476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98906" y="6400800"/>
            <a:ext cx="1340643" cy="133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900">
                <a:solidFill>
                  <a:srgbClr val="F8F8F8"/>
                </a:solidFill>
                <a:latin typeface="Arial"/>
              </a:rPr>
              <a:t>Created by MiniMax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15750" y="6381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noAutofit/>
          </a:bodyPr>
          <a:lstStyle/>
          <a:p>
            <a:pPr algn="l"/>
            <a:r>
              <a:rPr sz="1200">
                <a:solidFill>
                  <a:srgbClr val="F8F8F8"/>
                </a:solidFill>
                <a:latin typeface="Arial"/>
              </a:rPr>
              <a:t>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